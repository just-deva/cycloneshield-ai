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 the one-sentence claim: we do not forecast cyclones; IMD does. We convert its forecast into asset-level, time-stamped action for a district, with every number computed by code and every message approved by a person. Mention the deliverables: working prototype, source code, demo video,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Odisha is the strongest evidence that early warning works: about 10,000 deaths in 1999 against double-digit tolls in 2013 and 2019 with around a million people evacuated each time. Fani tolls vary by source (16 to 64), so we say double digits. The point of the slide is the right-hand list: these are the questions officers still answer largely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not a competitor to IMD, Web-DCRA or SACHET. We consume the official track and produce CAP files in the SACHET profile, always marked Exercise and Restricted, so an authorised originator could ingest them. The gap we fill is below district level and at the who-does-what-when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Stress stage 4: Gemini only writes; the validator rejects any number that is not in the computed facts packet. Severity is decided by rules, the model never sets it, and it can never dispatch.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 top to bottom. The shaded band is the only place a language model is involved, and even there the validator is ordinary code. Trust is a layer of its own: the audit chain, the AI-call trace and the cache of real outputs are visible in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names Gemini 3.7 Flash, so it is the primary model and the ID is configurable. Bulletin reading is the multimodal element: IMD publishes only PDFs and images. Earth Engine was tested live: GFS rain, three tile layers, and 1,327 people and 318 buildings inside the modelled Hudhud flood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a black box. The surge formula is a screening-level budget of the same class as IMD's nomograms; the operational hydrodynamic models (ADCIRC at INCOIS) are out of scope. The expected-loss sigmoid describes an aggregate fraction of exposed value, not the failure probability of any one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one coast needs k of 2.0 and the other 0.65, which tells us the hand-set shelf geometry is the weakest part. That is why the interface labels surge as screening-level and shows this table. Out-of-sample validation against Sentinel-1 flood extents is the first item of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are from the running prototype. Hudhud made landfall at Visakhapatnam in October 2014; we replay its track over current OpenStreetMap infrastructure, which is a what-if rather than a hindcast. Winds are on the JTWC one-minute basis, a few percent above IMD's three-minute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is stated conservatively. SMS and Cell Broadcast are government or telecom gated and are simulated and labelled. Live cyclone feeds are not wired: the inputs are replays and bulletins; live NOAA GFS rain is already read through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Regions differ in data richness: OpenStreetMap coverage is dense around Visakhapatnam and thinner for Odisha and Hai Phong, which the table shows rather than hides. The tenant mechanism is the scalability claim; the pilot path is a proposal, not a commitment from any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claim and the safeguards: numbers computed by code, every AI output validated, a person approves, everything is logged. Invite questions on calibration and limitations first, since those are the honest weak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28232"/>
            <a:ext cx="9144000" cy="256032"/>
          </a:xfrm>
          <a:prstGeom prst="rect">
            <a:avLst/>
          </a:prstGeom>
          <a:noFill/>
          <a:ln/>
        </p:spPr>
        <p:txBody>
          <a:bodyPr wrap="square" lIns="0" tIns="0" rIns="0" bIns="0" rtlCol="0" anchor="ctr"/>
          <a:lstStyle/>
          <a:p>
            <a:pPr indent="0" marL="0">
              <a:buNone/>
            </a:pPr>
            <a:r>
              <a:rPr lang="en-US" sz="1000" dirty="0">
                <a:solidFill>
                  <a:srgbClr val="5B6675"/>
                </a:solidFill>
                <a:latin typeface="Calibri" pitchFamily="34" charset="0"/>
                <a:ea typeface="Calibri" pitchFamily="34" charset="-122"/>
                <a:cs typeface="Calibri" pitchFamily="34" charset="-120"/>
              </a:rPr>
              <a:t>CycloneShield AI   |   Track 05: Track-Based Cyclone Impact &amp; Infrastructure Vulnerability Forecaster</a:t>
            </a:r>
            <a:endParaRPr lang="en-US" sz="10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11091672" cy="868680"/>
          </a:xfrm>
          <a:prstGeom prst="rect">
            <a:avLst/>
          </a:prstGeom>
          <a:noFill/>
          <a:ln/>
        </p:spPr>
        <p:txBody>
          <a:bodyPr wrap="square" lIns="0" tIns="0" rIns="0" bIns="0" rtlCol="0" anchor="ctr"/>
          <a:lstStyle/>
          <a:p>
            <a:pPr indent="0" marL="0">
              <a:buNone/>
            </a:pPr>
            <a:r>
              <a:rPr lang="en-US" sz="4800" b="1" dirty="0">
                <a:solidFill>
                  <a:srgbClr val="16233A"/>
                </a:solidFill>
                <a:latin typeface="Cambria" pitchFamily="34" charset="0"/>
                <a:ea typeface="Cambria" pitchFamily="34" charset="-122"/>
                <a:cs typeface="Cambria" pitchFamily="34" charset="-120"/>
              </a:rPr>
              <a:t>CycloneShield AI</a:t>
            </a:r>
            <a:endParaRPr lang="en-US" sz="4800" dirty="0"/>
          </a:p>
        </p:txBody>
      </p:sp>
      <p:sp>
        <p:nvSpPr>
          <p:cNvPr id="3" name="Text 1"/>
          <p:cNvSpPr txBox="1"/>
          <p:nvPr/>
        </p:nvSpPr>
        <p:spPr>
          <a:xfrm>
            <a:off x="548640" y="1828800"/>
            <a:ext cx="9692640" cy="868680"/>
          </a:xfrm>
          <a:prstGeom prst="rect">
            <a:avLst/>
          </a:prstGeom>
          <a:noFill/>
          <a:ln/>
        </p:spPr>
        <p:txBody>
          <a:bodyPr wrap="square" lIns="0" tIns="0" rIns="0" bIns="0" rtlCol="0" anchor="t"/>
          <a:lstStyle/>
          <a:p>
            <a:pPr indent="0" marL="0">
              <a:buNone/>
            </a:pPr>
            <a:r>
              <a:rPr lang="en-US" sz="2400" dirty="0">
                <a:solidFill>
                  <a:srgbClr val="16233A"/>
                </a:solidFill>
                <a:latin typeface="Cambria" pitchFamily="34" charset="0"/>
                <a:ea typeface="Cambria" pitchFamily="34" charset="-122"/>
                <a:cs typeface="Cambria" pitchFamily="34" charset="-120"/>
              </a:rPr>
              <a:t>Asset-level cyclone impact forecasting and advisory dispatch for disaster-management authorities</a:t>
            </a:r>
            <a:endParaRPr lang="en-US" sz="2400" dirty="0"/>
          </a:p>
        </p:txBody>
      </p:sp>
      <p:sp>
        <p:nvSpPr>
          <p:cNvPr id="4" name="Text 2"/>
          <p:cNvSpPr txBox="1"/>
          <p:nvPr/>
        </p:nvSpPr>
        <p:spPr>
          <a:xfrm>
            <a:off x="548640" y="2971800"/>
            <a:ext cx="9692640" cy="2103120"/>
          </a:xfrm>
          <a:prstGeom prst="rect">
            <a:avLst/>
          </a:prstGeom>
          <a:noFill/>
          <a:ln/>
        </p:spPr>
        <p:txBody>
          <a:bodyPr wrap="square" lIns="0" tIns="0" rIns="0" bIns="0" rtlCol="0" anchor="t"/>
          <a:lstStyle/>
          <a:p>
            <a:pPr indent="0" marL="0">
              <a:spcAft>
                <a:spcPts val="600"/>
              </a:spcAft>
              <a:buNone/>
            </a:pPr>
            <a:r>
              <a:rPr lang="en-US" sz="1600" b="1" dirty="0">
                <a:solidFill>
                  <a:srgbClr val="16233A"/>
                </a:solidFill>
                <a:latin typeface="Calibri" pitchFamily="34" charset="0"/>
                <a:ea typeface="Calibri" pitchFamily="34" charset="-122"/>
                <a:cs typeface="Calibri" pitchFamily="34" charset="-120"/>
              </a:rPr>
              <a:t>Abstract. </a:t>
            </a:r>
            <a:pPr indent="0" marL="0">
              <a:spcAft>
                <a:spcPts val="600"/>
              </a:spcAft>
              <a:buNone/>
            </a:pPr>
            <a:r>
              <a:rPr lang="en-US" sz="1600" dirty="0">
                <a:solidFill>
                  <a:srgbClr val="27303C"/>
                </a:solidFill>
                <a:latin typeface="Calibri" pitchFamily="34" charset="0"/>
                <a:ea typeface="Calibri" pitchFamily="34" charset="-122"/>
                <a:cs typeface="Calibri" pitchFamily="34" charset="-120"/>
              </a:rPr>
              <a:t>National early-warning systems now give days of notice of a tropical cyclone, yet turning a forecast track into asset-level action (which hospital, substation or road is affected, when, and who must act) remains largely manual. CycloneShield AI is a decision-support layer that sits downstream of the India Meteorological Department (IMD). A deterministic hazard-and-exposure engine computes every number; Gemini 3.7 Flash reads official bulletins, drafts validated multilingual advisories and answers officers' questions. Advisories are dispatched only after human approval and are recorded in a tamper-evident audit log.</a:t>
            </a:r>
            <a:endParaRPr lang="en-US" sz="1600" dirty="0"/>
          </a:p>
        </p:txBody>
      </p:sp>
      <p:sp>
        <p:nvSpPr>
          <p:cNvPr id="5" name="Text 3"/>
          <p:cNvSpPr txBox="1"/>
          <p:nvPr/>
        </p:nvSpPr>
        <p:spPr>
          <a:xfrm>
            <a:off x="548640" y="5257800"/>
            <a:ext cx="11091672" cy="960120"/>
          </a:xfrm>
          <a:prstGeom prst="rect">
            <a:avLst/>
          </a:prstGeom>
          <a:noFill/>
          <a:ln/>
        </p:spPr>
        <p:txBody>
          <a:bodyPr wrap="square" lIns="0" tIns="0" rIns="0" bIns="0" rtlCol="0" anchor="t"/>
          <a:lstStyle/>
          <a:p>
            <a:pPr indent="0" marL="0">
              <a:spcAft>
                <a:spcPts val="300"/>
              </a:spcAft>
              <a:buNone/>
            </a:pPr>
            <a:r>
              <a:rPr lang="en-US" sz="1400" b="1" dirty="0">
                <a:solidFill>
                  <a:srgbClr val="16233A"/>
                </a:solidFill>
                <a:latin typeface="Calibri" pitchFamily="34" charset="0"/>
                <a:ea typeface="Calibri" pitchFamily="34" charset="-122"/>
                <a:cs typeface="Calibri" pitchFamily="34" charset="-120"/>
              </a:rPr>
              <a:t>Build with AI: Code for Communities, Second Edition (Google Cloud x Hack2skill)</a:t>
            </a:r>
            <a:endParaRPr lang="en-US" sz="1400" dirty="0"/>
          </a:p>
          <a:p>
            <a:pPr indent="0" marL="0">
              <a:spcAft>
                <a:spcPts val="300"/>
              </a:spcAft>
              <a:buNone/>
            </a:pPr>
            <a:r>
              <a:rPr lang="en-US" sz="1400" dirty="0">
                <a:solidFill>
                  <a:srgbClr val="5B6675"/>
                </a:solidFill>
                <a:latin typeface="Calibri" pitchFamily="34" charset="0"/>
                <a:ea typeface="Calibri" pitchFamily="34" charset="-122"/>
                <a:cs typeface="Calibri" pitchFamily="34" charset="-120"/>
              </a:rPr>
              <a:t>Track 05, Resilience: Track-Based Cyclone Impact &amp; Infrastructure Vulnerability Forecaster</a:t>
            </a:r>
            <a:endParaRPr lang="en-US" sz="1400" dirty="0"/>
          </a:p>
          <a:p>
            <a:pPr indent="0" marL="0">
              <a:spcAft>
                <a:spcPts val="300"/>
              </a:spcAft>
              <a:buNone/>
            </a:pPr>
            <a:r>
              <a:rPr lang="en-US" sz="1400" dirty="0">
                <a:solidFill>
                  <a:srgbClr val="5B6675"/>
                </a:solidFill>
                <a:latin typeface="Calibri" pitchFamily="34" charset="0"/>
                <a:ea typeface="Calibri" pitchFamily="34" charset="-122"/>
                <a:cs typeface="Calibri" pitchFamily="34" charset="-120"/>
              </a:rPr>
              <a:t>Source code: github.com/just-deva/cycloneshield-ai (branch code-for-communities-2026)</a:t>
            </a:r>
            <a:endParaRPr lang="en-US" sz="14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1. Motivation</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Early warning saves lives, but the last step from forecast to action is still manual</a:t>
            </a:r>
            <a:endParaRPr lang="en-US" sz="2800" dirty="0"/>
          </a:p>
        </p:txBody>
      </p:sp>
      <p:sp>
        <p:nvSpPr>
          <p:cNvPr id="4" name="Text 2"/>
          <p:cNvSpPr txBox="1"/>
          <p:nvPr/>
        </p:nvSpPr>
        <p:spPr>
          <a:xfrm>
            <a:off x="548640" y="1691640"/>
            <a:ext cx="64008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Outcomes in Odisha over three storms</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400800" cy="914400"/>
        </p:xfrm>
        <a:graphic>
          <a:graphicData uri="http://schemas.openxmlformats.org/drawingml/2006/table">
            <a:tbl>
              <a:tblPr/>
              <a:tblGrid>
                <a:gridCol w="2286000"/>
                <a:gridCol w="1920240"/>
                <a:gridCol w="2194560"/>
              </a:tblGrid>
              <a:tr h="384048">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Event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People evacuated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Deaths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41148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1999 Super Cyclone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not comparable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about 10,000</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Phailin, 2013</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about 1 million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double digits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Fani, 2019</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about 1.2 million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double digits (16 to 64)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6" name="Text 3"/>
          <p:cNvSpPr txBox="1"/>
          <p:nvPr/>
        </p:nvSpPr>
        <p:spPr>
          <a:xfrm>
            <a:off x="548640" y="3977640"/>
            <a:ext cx="6400800" cy="6400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Sources: World Bank (2023); UN ESCAP. Figures are rounded and reported tolls differ by source. The Global Commission on Adaptation (2019) estimates that 24 hours of warning reduce damage by about 30%.</a:t>
            </a:r>
            <a:endParaRPr lang="en-US" sz="1200" dirty="0"/>
          </a:p>
        </p:txBody>
      </p:sp>
      <p:sp>
        <p:nvSpPr>
          <p:cNvPr id="7" name="Text 4"/>
          <p:cNvSpPr txBox="1"/>
          <p:nvPr/>
        </p:nvSpPr>
        <p:spPr>
          <a:xfrm>
            <a:off x="548640" y="4846320"/>
            <a:ext cx="6400800" cy="13716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7303C"/>
                </a:solidFill>
                <a:latin typeface="Calibri" pitchFamily="34" charset="0"/>
                <a:ea typeface="Calibri" pitchFamily="34" charset="-122"/>
                <a:cs typeface="Calibri" pitchFamily="34" charset="-120"/>
              </a:rPr>
              <a:t>Forecasts are accurate and widely disseminated; the bottleneck has moved to acting on them.</a:t>
            </a:r>
            <a:endParaRPr lang="en-US" sz="1600" dirty="0"/>
          </a:p>
          <a:p>
            <a:pPr marL="203200" indent="-203200">
              <a:spcAft>
                <a:spcPts val="800"/>
              </a:spcAft>
              <a:buSzPct val="100000"/>
              <a:buChar char="•"/>
            </a:pPr>
            <a:r>
              <a:rPr lang="en-US" sz="1600" dirty="0">
                <a:solidFill>
                  <a:srgbClr val="27303C"/>
                </a:solidFill>
                <a:latin typeface="Calibri" pitchFamily="34" charset="0"/>
                <a:ea typeface="Calibri" pitchFamily="34" charset="-122"/>
                <a:cs typeface="Calibri" pitchFamily="34" charset="-120"/>
              </a:rPr>
              <a:t>Acting before landfall (evacuation planning, hardening, pre-arranged funds) protects lives and livelihoods; acting afterwards is recovery.</a:t>
            </a:r>
            <a:endParaRPr lang="en-US" sz="1600" dirty="0"/>
          </a:p>
        </p:txBody>
      </p:sp>
      <p:sp>
        <p:nvSpPr>
          <p:cNvPr id="8" name="Text 5"/>
          <p:cNvSpPr txBox="1"/>
          <p:nvPr/>
        </p:nvSpPr>
        <p:spPr>
          <a:xfrm>
            <a:off x="7360920" y="1691640"/>
            <a:ext cx="429768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Questions asked at T minus 72 h</a:t>
            </a:r>
            <a:endParaRPr lang="en-US" sz="1800" dirty="0"/>
          </a:p>
        </p:txBody>
      </p:sp>
      <p:sp>
        <p:nvSpPr>
          <p:cNvPr id="9" name="Text 6"/>
          <p:cNvSpPr txBox="1"/>
          <p:nvPr/>
        </p:nvSpPr>
        <p:spPr>
          <a:xfrm>
            <a:off x="7360920" y="2148840"/>
            <a:ext cx="4279392" cy="40233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Which hospitals lose power or access, and when?</a:t>
            </a:r>
            <a:endParaRPr lang="en-US" sz="1600" dirty="0"/>
          </a:p>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Which substations face flooding or destructive wind?</a:t>
            </a:r>
            <a:endParaRPr lang="en-US" sz="1600" dirty="0"/>
          </a:p>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Which roads and evacuation routes remain usable?</a:t>
            </a:r>
            <a:endParaRPr lang="en-US" sz="1600" dirty="0"/>
          </a:p>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Which shelters are safe, and by what time must people leave?</a:t>
            </a:r>
            <a:endParaRPr lang="en-US" sz="1600" dirty="0"/>
          </a:p>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Who must be told what, in which language, and who approves it?</a:t>
            </a:r>
            <a:endParaRPr lang="en-US" sz="1600" dirty="0"/>
          </a:p>
          <a:p>
            <a:pPr marL="342900" indent="-342900">
              <a:spcAft>
                <a:spcPts val="900"/>
              </a:spcAft>
              <a:buSzPct val="100000"/>
              <a:buFont typeface="+mj-lt"/>
              <a:buAutoNum type="arabicPeriod" startAt="1"/>
            </a:pPr>
            <a:r>
              <a:rPr lang="en-US" sz="1600" dirty="0">
                <a:solidFill>
                  <a:srgbClr val="27303C"/>
                </a:solidFill>
                <a:latin typeface="Calibri" pitchFamily="34" charset="0"/>
                <a:ea typeface="Calibri" pitchFamily="34" charset="-122"/>
                <a:cs typeface="Calibri" pitchFamily="34" charset="-120"/>
              </a:rPr>
              <a:t>Should pre-arranged relief funds be released before landfall?</a:t>
            </a:r>
            <a:endParaRPr lang="en-US" sz="16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2. Positioning</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We complement India's warning chain at the asset level rather than replace any part of it</a:t>
            </a:r>
            <a:endParaRPr lang="en-US" sz="2800" dirty="0"/>
          </a:p>
        </p:txBody>
      </p:sp>
      <p:sp>
        <p:nvSpPr>
          <p:cNvPr id="4" name="Text 2"/>
          <p:cNvSpPr txBox="1"/>
          <p:nvPr/>
        </p:nvSpPr>
        <p:spPr>
          <a:xfrm>
            <a:off x="548640" y="1691640"/>
            <a:ext cx="4572000" cy="237744"/>
          </a:xfrm>
          <a:prstGeom prst="rect">
            <a:avLst/>
          </a:prstGeom>
          <a:noFill/>
          <a:ln/>
        </p:spPr>
        <p:txBody>
          <a:bodyPr wrap="square" lIns="0" tIns="0" rIns="0" bIns="0" rtlCol="0" anchor="ctr"/>
          <a:lstStyle/>
          <a:p>
            <a:pPr indent="0" marL="0">
              <a:buNone/>
            </a:pPr>
            <a:r>
              <a:rPr lang="en-US" sz="1300" b="1" dirty="0">
                <a:solidFill>
                  <a:srgbClr val="5B6675"/>
                </a:solidFill>
                <a:latin typeface="Calibri" pitchFamily="34" charset="0"/>
                <a:ea typeface="Calibri" pitchFamily="34" charset="-122"/>
                <a:cs typeface="Calibri" pitchFamily="34" charset="-120"/>
              </a:rPr>
              <a:t>Existing national chain</a:t>
            </a:r>
            <a:endParaRPr lang="en-US" sz="1300" dirty="0"/>
          </a:p>
        </p:txBody>
      </p:sp>
      <p:sp>
        <p:nvSpPr>
          <p:cNvPr id="5" name="Text 3"/>
          <p:cNvSpPr/>
          <p:nvPr/>
        </p:nvSpPr>
        <p:spPr>
          <a:xfrm>
            <a:off x="548640" y="1984248"/>
            <a:ext cx="3200400" cy="777240"/>
          </a:xfrm>
          <a:prstGeom prst="rect">
            <a:avLst/>
          </a:prstGeom>
          <a:solidFill>
            <a:srgbClr val="FFFFFF"/>
          </a:solidFill>
          <a:ln w="12700">
            <a:solidFill>
              <a:srgbClr val="5B6675"/>
            </a:solidFill>
          </a:ln>
        </p:spPr>
        <p:txBody>
          <a:bodyPr wrap="square" lIns="50800" tIns="76200" rIns="76200" bIns="50800" rtlCol="0" anchor="ctr"/>
          <a:lstStyle/>
          <a:p>
            <a:pPr algn="ctr" indent="0" marL="0">
              <a:buNone/>
            </a:pPr>
            <a:r>
              <a:rPr lang="en-US" sz="1400" dirty="0">
                <a:solidFill>
                  <a:srgbClr val="16233A"/>
                </a:solidFill>
                <a:latin typeface="Calibri" pitchFamily="34" charset="0"/>
                <a:ea typeface="Calibri" pitchFamily="34" charset="-122"/>
                <a:cs typeface="Calibri" pitchFamily="34" charset="-120"/>
              </a:rPr>
              <a:t>IMD: forecast track and four-stage cyclone warnings</a:t>
            </a:r>
            <a:endParaRPr lang="en-US" sz="1400" dirty="0"/>
          </a:p>
        </p:txBody>
      </p:sp>
      <p:sp>
        <p:nvSpPr>
          <p:cNvPr id="6" name="Text 4"/>
          <p:cNvSpPr/>
          <p:nvPr/>
        </p:nvSpPr>
        <p:spPr>
          <a:xfrm>
            <a:off x="4498848" y="1984248"/>
            <a:ext cx="3200400" cy="777240"/>
          </a:xfrm>
          <a:prstGeom prst="rect">
            <a:avLst/>
          </a:prstGeom>
          <a:solidFill>
            <a:srgbClr val="FFFFFF"/>
          </a:solidFill>
          <a:ln w="12700">
            <a:solidFill>
              <a:srgbClr val="5B6675"/>
            </a:solidFill>
          </a:ln>
        </p:spPr>
        <p:txBody>
          <a:bodyPr wrap="square" lIns="50800" tIns="76200" rIns="76200" bIns="50800" rtlCol="0" anchor="ctr"/>
          <a:lstStyle/>
          <a:p>
            <a:pPr algn="ctr" indent="0" marL="0">
              <a:buNone/>
            </a:pPr>
            <a:r>
              <a:rPr lang="en-US" sz="1400" dirty="0">
                <a:solidFill>
                  <a:srgbClr val="16233A"/>
                </a:solidFill>
                <a:latin typeface="Calibri" pitchFamily="34" charset="0"/>
                <a:ea typeface="Calibri" pitchFamily="34" charset="-122"/>
                <a:cs typeface="Calibri" pitchFamily="34" charset="-120"/>
              </a:rPr>
              <a:t>IMD / NDMA Web-DCRA: district-level hazard and risk atlas</a:t>
            </a:r>
            <a:endParaRPr lang="en-US" sz="1400" dirty="0"/>
          </a:p>
        </p:txBody>
      </p:sp>
      <p:sp>
        <p:nvSpPr>
          <p:cNvPr id="7" name="Text 5"/>
          <p:cNvSpPr/>
          <p:nvPr/>
        </p:nvSpPr>
        <p:spPr>
          <a:xfrm>
            <a:off x="8449056" y="1984248"/>
            <a:ext cx="3200400" cy="777240"/>
          </a:xfrm>
          <a:prstGeom prst="rect">
            <a:avLst/>
          </a:prstGeom>
          <a:solidFill>
            <a:srgbClr val="FFFFFF"/>
          </a:solidFill>
          <a:ln w="12700">
            <a:solidFill>
              <a:srgbClr val="5B6675"/>
            </a:solidFill>
          </a:ln>
        </p:spPr>
        <p:txBody>
          <a:bodyPr wrap="square" lIns="50800" tIns="76200" rIns="76200" bIns="50800" rtlCol="0" anchor="ctr"/>
          <a:lstStyle/>
          <a:p>
            <a:pPr algn="ctr" indent="0" marL="0">
              <a:buNone/>
            </a:pPr>
            <a:r>
              <a:rPr lang="en-US" sz="1400" dirty="0">
                <a:solidFill>
                  <a:srgbClr val="16233A"/>
                </a:solidFill>
                <a:latin typeface="Calibri" pitchFamily="34" charset="0"/>
                <a:ea typeface="Calibri" pitchFamily="34" charset="-122"/>
                <a:cs typeface="Calibri" pitchFamily="34" charset="-120"/>
              </a:rPr>
              <a:t>NDMA SACHET: Common Alerting Protocol alerts through SDMAs</a:t>
            </a:r>
            <a:endParaRPr lang="en-US" sz="1400" dirty="0"/>
          </a:p>
        </p:txBody>
      </p:sp>
      <p:sp>
        <p:nvSpPr>
          <p:cNvPr id="8" name="Shape 6"/>
          <p:cNvSpPr/>
          <p:nvPr/>
        </p:nvSpPr>
        <p:spPr>
          <a:xfrm>
            <a:off x="3749040" y="2372868"/>
            <a:ext cx="749808" cy="0"/>
          </a:xfrm>
          <a:prstGeom prst="line">
            <a:avLst/>
          </a:prstGeom>
          <a:noFill/>
          <a:ln w="15875">
            <a:solidFill>
              <a:srgbClr val="5B6675"/>
            </a:solidFill>
            <a:prstDash val="solid"/>
            <a:tailEnd type="triangle"/>
          </a:ln>
        </p:spPr>
      </p:sp>
      <p:sp>
        <p:nvSpPr>
          <p:cNvPr id="9" name="Shape 7"/>
          <p:cNvSpPr/>
          <p:nvPr/>
        </p:nvSpPr>
        <p:spPr>
          <a:xfrm>
            <a:off x="7699248" y="2372868"/>
            <a:ext cx="749808" cy="0"/>
          </a:xfrm>
          <a:prstGeom prst="line">
            <a:avLst/>
          </a:prstGeom>
          <a:noFill/>
          <a:ln w="15875">
            <a:solidFill>
              <a:srgbClr val="5B6675"/>
            </a:solidFill>
            <a:prstDash val="solid"/>
            <a:tailEnd type="triangle"/>
          </a:ln>
        </p:spPr>
      </p:sp>
      <p:sp>
        <p:nvSpPr>
          <p:cNvPr id="10" name="Text 8"/>
          <p:cNvSpPr txBox="1"/>
          <p:nvPr/>
        </p:nvSpPr>
        <p:spPr>
          <a:xfrm>
            <a:off x="548640" y="3035808"/>
            <a:ext cx="4572000" cy="237744"/>
          </a:xfrm>
          <a:prstGeom prst="rect">
            <a:avLst/>
          </a:prstGeom>
          <a:noFill/>
          <a:ln/>
        </p:spPr>
        <p:txBody>
          <a:bodyPr wrap="square" lIns="0" tIns="0" rIns="0" bIns="0" rtlCol="0" anchor="ctr"/>
          <a:lstStyle/>
          <a:p>
            <a:pPr indent="0" marL="0">
              <a:buNone/>
            </a:pPr>
            <a:r>
              <a:rPr lang="en-US" sz="1300" b="1" dirty="0">
                <a:solidFill>
                  <a:srgbClr val="1E5F7A"/>
                </a:solidFill>
                <a:latin typeface="Calibri" pitchFamily="34" charset="0"/>
                <a:ea typeface="Calibri" pitchFamily="34" charset="-122"/>
                <a:cs typeface="Calibri" pitchFamily="34" charset="-120"/>
              </a:rPr>
              <a:t>Proposed decision-support layer</a:t>
            </a:r>
            <a:endParaRPr lang="en-US" sz="1300" dirty="0"/>
          </a:p>
        </p:txBody>
      </p:sp>
      <p:sp>
        <p:nvSpPr>
          <p:cNvPr id="11" name="Text 9"/>
          <p:cNvSpPr/>
          <p:nvPr/>
        </p:nvSpPr>
        <p:spPr>
          <a:xfrm>
            <a:off x="548640" y="3328416"/>
            <a:ext cx="3200400" cy="777240"/>
          </a:xfrm>
          <a:prstGeom prst="rect">
            <a:avLst/>
          </a:prstGeom>
          <a:solidFill>
            <a:srgbClr val="EAF0F5"/>
          </a:solidFill>
          <a:ln w="22225">
            <a:solidFill>
              <a:srgbClr val="1E5F7A"/>
            </a:solidFill>
          </a:ln>
        </p:spPr>
        <p:txBody>
          <a:bodyPr wrap="square" lIns="50800" tIns="76200" rIns="76200" bIns="50800" rtlCol="0" anchor="ctr"/>
          <a:lstStyle/>
          <a:p>
            <a:pPr algn="ctr" indent="0" marL="0">
              <a:buNone/>
            </a:pPr>
            <a:r>
              <a:rPr lang="en-US" sz="1400" b="1" dirty="0">
                <a:solidFill>
                  <a:srgbClr val="16233A"/>
                </a:solidFill>
                <a:latin typeface="Calibri" pitchFamily="34" charset="0"/>
                <a:ea typeface="Calibri" pitchFamily="34" charset="-122"/>
                <a:cs typeface="Calibri" pitchFamily="34" charset="-120"/>
              </a:rPr>
              <a:t>CycloneShield AI: asset-level impact, who-does-what-when, advisory drafts</a:t>
            </a:r>
            <a:endParaRPr lang="en-US" sz="1400" dirty="0"/>
          </a:p>
        </p:txBody>
      </p:sp>
      <p:sp>
        <p:nvSpPr>
          <p:cNvPr id="12" name="Text 10"/>
          <p:cNvSpPr/>
          <p:nvPr/>
        </p:nvSpPr>
        <p:spPr>
          <a:xfrm>
            <a:off x="4498848" y="3328416"/>
            <a:ext cx="3200400" cy="77724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400" dirty="0">
                <a:solidFill>
                  <a:srgbClr val="16233A"/>
                </a:solidFill>
                <a:latin typeface="Calibri" pitchFamily="34" charset="0"/>
                <a:ea typeface="Calibri" pitchFamily="34" charset="-122"/>
                <a:cs typeface="Calibri" pitchFamily="34" charset="-120"/>
              </a:rPr>
              <a:t>Officer approval (two officers for orange and red)</a:t>
            </a:r>
            <a:endParaRPr lang="en-US" sz="1400" dirty="0"/>
          </a:p>
        </p:txBody>
      </p:sp>
      <p:sp>
        <p:nvSpPr>
          <p:cNvPr id="13" name="Text 11"/>
          <p:cNvSpPr/>
          <p:nvPr/>
        </p:nvSpPr>
        <p:spPr>
          <a:xfrm>
            <a:off x="8449056" y="3328416"/>
            <a:ext cx="3200400" cy="77724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400" dirty="0">
                <a:solidFill>
                  <a:srgbClr val="16233A"/>
                </a:solidFill>
                <a:latin typeface="Calibri" pitchFamily="34" charset="0"/>
                <a:ea typeface="Calibri" pitchFamily="34" charset="-122"/>
                <a:cs typeface="Calibri" pitchFamily="34" charset="-120"/>
              </a:rPr>
              <a:t>SDMA, DEOC and departments (CAP 1.2, Exercise / Restricted)</a:t>
            </a:r>
            <a:endParaRPr lang="en-US" sz="1400" dirty="0"/>
          </a:p>
        </p:txBody>
      </p:sp>
      <p:sp>
        <p:nvSpPr>
          <p:cNvPr id="14" name="Shape 12"/>
          <p:cNvSpPr/>
          <p:nvPr/>
        </p:nvSpPr>
        <p:spPr>
          <a:xfrm>
            <a:off x="3749040" y="3717036"/>
            <a:ext cx="749808" cy="0"/>
          </a:xfrm>
          <a:prstGeom prst="line">
            <a:avLst/>
          </a:prstGeom>
          <a:noFill/>
          <a:ln w="15875">
            <a:solidFill>
              <a:srgbClr val="1E5F7A"/>
            </a:solidFill>
            <a:prstDash val="solid"/>
            <a:tailEnd type="triangle"/>
          </a:ln>
        </p:spPr>
      </p:sp>
      <p:sp>
        <p:nvSpPr>
          <p:cNvPr id="15" name="Shape 13"/>
          <p:cNvSpPr/>
          <p:nvPr/>
        </p:nvSpPr>
        <p:spPr>
          <a:xfrm>
            <a:off x="7699248" y="3717036"/>
            <a:ext cx="749808" cy="0"/>
          </a:xfrm>
          <a:prstGeom prst="line">
            <a:avLst/>
          </a:prstGeom>
          <a:noFill/>
          <a:ln w="15875">
            <a:solidFill>
              <a:srgbClr val="1E5F7A"/>
            </a:solidFill>
            <a:prstDash val="solid"/>
            <a:tailEnd type="triangle"/>
          </a:ln>
        </p:spPr>
      </p:sp>
      <p:sp>
        <p:nvSpPr>
          <p:cNvPr id="16" name="Shape 14"/>
          <p:cNvSpPr/>
          <p:nvPr/>
        </p:nvSpPr>
        <p:spPr>
          <a:xfrm>
            <a:off x="3291840" y="2761488"/>
            <a:ext cx="0" cy="566928"/>
          </a:xfrm>
          <a:prstGeom prst="line">
            <a:avLst/>
          </a:prstGeom>
          <a:noFill/>
          <a:ln w="15875">
            <a:solidFill>
              <a:srgbClr val="1E5F7A"/>
            </a:solidFill>
            <a:prstDash val="solid"/>
            <a:tailEnd type="triangle"/>
          </a:ln>
        </p:spPr>
      </p:sp>
      <p:sp>
        <p:nvSpPr>
          <p:cNvPr id="17" name="Text 15"/>
          <p:cNvSpPr txBox="1"/>
          <p:nvPr/>
        </p:nvSpPr>
        <p:spPr>
          <a:xfrm>
            <a:off x="548640" y="4197096"/>
            <a:ext cx="11091672" cy="27432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Publishing into SACHET remains with authorised originators; our CAP output is always marked Exercise and Restricted.</a:t>
            </a:r>
            <a:endParaRPr lang="en-US" sz="1200" dirty="0"/>
          </a:p>
        </p:txBody>
      </p:sp>
      <p:sp>
        <p:nvSpPr>
          <p:cNvPr id="18" name="Text 16"/>
          <p:cNvSpPr txBox="1"/>
          <p:nvPr/>
        </p:nvSpPr>
        <p:spPr>
          <a:xfrm>
            <a:off x="548640" y="4654296"/>
            <a:ext cx="50292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Established</a:t>
            </a:r>
            <a:endParaRPr lang="en-US" sz="1800" dirty="0"/>
          </a:p>
        </p:txBody>
      </p:sp>
      <p:sp>
        <p:nvSpPr>
          <p:cNvPr id="19" name="Text 17"/>
          <p:cNvSpPr txBox="1"/>
          <p:nvPr/>
        </p:nvSpPr>
        <p:spPr>
          <a:xfrm>
            <a:off x="548640" y="5020056"/>
            <a:ext cx="5212080" cy="91440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27303C"/>
                </a:solidFill>
                <a:latin typeface="Calibri" pitchFamily="34" charset="0"/>
                <a:ea typeface="Calibri" pitchFamily="34" charset="-122"/>
                <a:cs typeface="Calibri" pitchFamily="34" charset="-120"/>
              </a:rPr>
              <a:t>Accurate IMD forecasts and a four-stage warning clock</a:t>
            </a:r>
            <a:endParaRPr lang="en-US" sz="1500" dirty="0"/>
          </a:p>
          <a:p>
            <a:pPr marL="203200" indent="-203200">
              <a:spcAft>
                <a:spcPts val="400"/>
              </a:spcAft>
              <a:buSzPct val="100000"/>
              <a:buChar char="•"/>
            </a:pPr>
            <a:r>
              <a:rPr lang="en-US" sz="1500" dirty="0">
                <a:solidFill>
                  <a:srgbClr val="27303C"/>
                </a:solidFill>
                <a:latin typeface="Calibri" pitchFamily="34" charset="0"/>
                <a:ea typeface="Calibri" pitchFamily="34" charset="-122"/>
                <a:cs typeface="Calibri" pitchFamily="34" charset="-120"/>
              </a:rPr>
              <a:t>A national CAP platform and district hazard atlases</a:t>
            </a:r>
            <a:endParaRPr lang="en-US" sz="1500" dirty="0"/>
          </a:p>
        </p:txBody>
      </p:sp>
      <p:sp>
        <p:nvSpPr>
          <p:cNvPr id="20" name="Text 18"/>
          <p:cNvSpPr txBox="1"/>
          <p:nvPr/>
        </p:nvSpPr>
        <p:spPr>
          <a:xfrm>
            <a:off x="6172200" y="4654296"/>
            <a:ext cx="54864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Not yet covered at asset level</a:t>
            </a:r>
            <a:endParaRPr lang="en-US" sz="1800" dirty="0"/>
          </a:p>
        </p:txBody>
      </p:sp>
      <p:sp>
        <p:nvSpPr>
          <p:cNvPr id="21" name="Text 19"/>
          <p:cNvSpPr txBox="1"/>
          <p:nvPr/>
        </p:nvSpPr>
        <p:spPr>
          <a:xfrm>
            <a:off x="6172200" y="5020056"/>
            <a:ext cx="5468112" cy="91440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27303C"/>
                </a:solidFill>
                <a:latin typeface="Calibri" pitchFamily="34" charset="0"/>
                <a:ea typeface="Calibri" pitchFamily="34" charset="-122"/>
                <a:cs typeface="Calibri" pitchFamily="34" charset="-120"/>
              </a:rPr>
              <a:t>Hour-by-hour exposure of each hospital, substation, road and shelter</a:t>
            </a:r>
            <a:endParaRPr lang="en-US" sz="1500" dirty="0"/>
          </a:p>
          <a:p>
            <a:pPr marL="203200" indent="-203200">
              <a:spcAft>
                <a:spcPts val="400"/>
              </a:spcAft>
              <a:buSzPct val="100000"/>
              <a:buChar char="•"/>
            </a:pPr>
            <a:r>
              <a:rPr lang="en-US" sz="1500" dirty="0">
                <a:solidFill>
                  <a:srgbClr val="27303C"/>
                </a:solidFill>
                <a:latin typeface="Calibri" pitchFamily="34" charset="0"/>
                <a:ea typeface="Calibri" pitchFamily="34" charset="-122"/>
                <a:cs typeface="Calibri" pitchFamily="34" charset="-120"/>
              </a:rPr>
              <a:t>Local-language drafts with an approval trail and a link to anticipatory finance</a:t>
            </a:r>
            <a:endParaRPr lang="en-US" sz="15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3. Approach</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Five stages turn an official forecast into an approved, audited advisory for the district</a:t>
            </a:r>
            <a:endParaRPr lang="en-US" sz="2800" dirty="0"/>
          </a:p>
        </p:txBody>
      </p:sp>
      <p:sp>
        <p:nvSpPr>
          <p:cNvPr id="4" name="Text 2"/>
          <p:cNvSpPr/>
          <p:nvPr/>
        </p:nvSpPr>
        <p:spPr>
          <a:xfrm>
            <a:off x="548640" y="1783080"/>
            <a:ext cx="2011680" cy="2286000"/>
          </a:xfrm>
          <a:prstGeom prst="rect">
            <a:avLst/>
          </a:prstGeom>
          <a:solidFill>
            <a:srgbClr val="FFFFFF"/>
          </a:solidFill>
          <a:ln w="12700">
            <a:solidFill>
              <a:srgbClr val="1E5F7A"/>
            </a:solidFill>
          </a:ln>
        </p:spPr>
        <p:txBody>
          <a:bodyPr wrap="square" lIns="127000" tIns="127000" rIns="127000" bIns="101600" rtlCol="0" anchor="t"/>
          <a:lstStyle/>
          <a:p>
            <a:pPr indent="0" marL="0">
              <a:spcAft>
                <a:spcPts val="800"/>
              </a:spcAft>
              <a:buNone/>
            </a:pPr>
            <a:r>
              <a:rPr lang="en-US" sz="1800" b="1" dirty="0">
                <a:solidFill>
                  <a:srgbClr val="16233A"/>
                </a:solidFill>
                <a:latin typeface="Cambria" pitchFamily="34" charset="0"/>
                <a:ea typeface="Cambria" pitchFamily="34" charset="-122"/>
                <a:cs typeface="Cambria" pitchFamily="34" charset="-120"/>
              </a:rPr>
              <a:t>1  Read</a:t>
            </a:r>
            <a:endParaRPr lang="en-US" sz="1800" dirty="0"/>
          </a:p>
          <a:p>
            <a:pPr indent="0" marL="0">
              <a:buNone/>
            </a:pPr>
            <a:r>
              <a:rPr lang="en-US" sz="1500" dirty="0">
                <a:solidFill>
                  <a:srgbClr val="27303C"/>
                </a:solidFill>
                <a:latin typeface="Calibri" pitchFamily="34" charset="0"/>
                <a:ea typeface="Calibri" pitchFamily="34" charset="-122"/>
                <a:cs typeface="Calibri" pitchFamily="34" charset="-120"/>
              </a:rPr>
              <a:t>An IMD bulletin (PDF or image), or a replayed best track, becomes a validated storm track.</a:t>
            </a:r>
            <a:endParaRPr lang="en-US" sz="1800" dirty="0"/>
          </a:p>
        </p:txBody>
      </p:sp>
      <p:sp>
        <p:nvSpPr>
          <p:cNvPr id="5" name="Shape 3"/>
          <p:cNvSpPr/>
          <p:nvPr/>
        </p:nvSpPr>
        <p:spPr>
          <a:xfrm>
            <a:off x="2560320" y="2926080"/>
            <a:ext cx="256032" cy="0"/>
          </a:xfrm>
          <a:prstGeom prst="line">
            <a:avLst/>
          </a:prstGeom>
          <a:noFill/>
          <a:ln w="15875">
            <a:solidFill>
              <a:srgbClr val="5B6675"/>
            </a:solidFill>
            <a:prstDash val="solid"/>
            <a:tailEnd type="triangle"/>
          </a:ln>
        </p:spPr>
      </p:sp>
      <p:sp>
        <p:nvSpPr>
          <p:cNvPr id="6" name="Text 4"/>
          <p:cNvSpPr txBox="1"/>
          <p:nvPr/>
        </p:nvSpPr>
        <p:spPr>
          <a:xfrm>
            <a:off x="548640" y="4206240"/>
            <a:ext cx="2011680" cy="822960"/>
          </a:xfrm>
          <a:prstGeom prst="rect">
            <a:avLst/>
          </a:prstGeom>
          <a:noFill/>
          <a:ln/>
        </p:spPr>
        <p:txBody>
          <a:bodyPr wrap="square" lIns="0" tIns="0" rIns="0" bIns="0" rtlCol="0" anchor="t"/>
          <a:lstStyle/>
          <a:p>
            <a:pPr indent="0" marL="0">
              <a:buNone/>
            </a:pPr>
            <a:r>
              <a:rPr lang="en-US" sz="1200" b="1" dirty="0">
                <a:solidFill>
                  <a:srgbClr val="5B6675"/>
                </a:solidFill>
                <a:latin typeface="Calibri" pitchFamily="34" charset="0"/>
                <a:ea typeface="Calibri" pitchFamily="34" charset="-122"/>
                <a:cs typeface="Calibri" pitchFamily="34" charset="-120"/>
              </a:rPr>
              <a:t>Output</a:t>
            </a:r>
            <a:endParaRPr lang="en-US" sz="1200" dirty="0"/>
          </a:p>
          <a:p>
            <a:pPr indent="0" marL="0">
              <a:buNone/>
            </a:pPr>
            <a:r>
              <a:rPr lang="en-US" sz="1400" dirty="0">
                <a:solidFill>
                  <a:srgbClr val="16233A"/>
                </a:solidFill>
                <a:latin typeface="Calibri" pitchFamily="34" charset="0"/>
                <a:ea typeface="Calibri" pitchFamily="34" charset="-122"/>
                <a:cs typeface="Calibri" pitchFamily="34" charset="-120"/>
              </a:rPr>
              <a:t>Track, intensity, uncertainty</a:t>
            </a:r>
            <a:endParaRPr lang="en-US" sz="1200" dirty="0"/>
          </a:p>
        </p:txBody>
      </p:sp>
      <p:sp>
        <p:nvSpPr>
          <p:cNvPr id="7" name="Text 5"/>
          <p:cNvSpPr/>
          <p:nvPr/>
        </p:nvSpPr>
        <p:spPr>
          <a:xfrm>
            <a:off x="2816352" y="1783080"/>
            <a:ext cx="2011680" cy="2286000"/>
          </a:xfrm>
          <a:prstGeom prst="rect">
            <a:avLst/>
          </a:prstGeom>
          <a:solidFill>
            <a:srgbClr val="FFFFFF"/>
          </a:solidFill>
          <a:ln w="12700">
            <a:solidFill>
              <a:srgbClr val="1E5F7A"/>
            </a:solidFill>
          </a:ln>
        </p:spPr>
        <p:txBody>
          <a:bodyPr wrap="square" lIns="127000" tIns="127000" rIns="127000" bIns="101600" rtlCol="0" anchor="t"/>
          <a:lstStyle/>
          <a:p>
            <a:pPr indent="0" marL="0">
              <a:spcAft>
                <a:spcPts val="800"/>
              </a:spcAft>
              <a:buNone/>
            </a:pPr>
            <a:r>
              <a:rPr lang="en-US" sz="1800" b="1" dirty="0">
                <a:solidFill>
                  <a:srgbClr val="16233A"/>
                </a:solidFill>
                <a:latin typeface="Cambria" pitchFamily="34" charset="0"/>
                <a:ea typeface="Cambria" pitchFamily="34" charset="-122"/>
                <a:cs typeface="Cambria" pitchFamily="34" charset="-120"/>
              </a:rPr>
              <a:t>2  Simulate</a:t>
            </a:r>
            <a:endParaRPr lang="en-US" sz="1800" dirty="0"/>
          </a:p>
          <a:p>
            <a:pPr indent="0" marL="0">
              <a:buNone/>
            </a:pPr>
            <a:r>
              <a:rPr lang="en-US" sz="1500" dirty="0">
                <a:solidFill>
                  <a:srgbClr val="27303C"/>
                </a:solidFill>
                <a:latin typeface="Calibri" pitchFamily="34" charset="0"/>
                <a:ea typeface="Calibri" pitchFamily="34" charset="-122"/>
                <a:cs typeface="Calibri" pitchFamily="34" charset="-120"/>
              </a:rPr>
              <a:t>Wind, storm surge, sea-connected flooding and rain pathways; nine what-if scenarios.</a:t>
            </a:r>
            <a:endParaRPr lang="en-US" sz="1800" dirty="0"/>
          </a:p>
        </p:txBody>
      </p:sp>
      <p:sp>
        <p:nvSpPr>
          <p:cNvPr id="8" name="Shape 6"/>
          <p:cNvSpPr/>
          <p:nvPr/>
        </p:nvSpPr>
        <p:spPr>
          <a:xfrm>
            <a:off x="4828032" y="2926080"/>
            <a:ext cx="256032" cy="0"/>
          </a:xfrm>
          <a:prstGeom prst="line">
            <a:avLst/>
          </a:prstGeom>
          <a:noFill/>
          <a:ln w="15875">
            <a:solidFill>
              <a:srgbClr val="5B6675"/>
            </a:solidFill>
            <a:prstDash val="solid"/>
            <a:tailEnd type="triangle"/>
          </a:ln>
        </p:spPr>
      </p:sp>
      <p:sp>
        <p:nvSpPr>
          <p:cNvPr id="9" name="Text 7"/>
          <p:cNvSpPr txBox="1"/>
          <p:nvPr/>
        </p:nvSpPr>
        <p:spPr>
          <a:xfrm>
            <a:off x="2816352" y="4206240"/>
            <a:ext cx="2011680" cy="822960"/>
          </a:xfrm>
          <a:prstGeom prst="rect">
            <a:avLst/>
          </a:prstGeom>
          <a:noFill/>
          <a:ln/>
        </p:spPr>
        <p:txBody>
          <a:bodyPr wrap="square" lIns="0" tIns="0" rIns="0" bIns="0" rtlCol="0" anchor="t"/>
          <a:lstStyle/>
          <a:p>
            <a:pPr indent="0" marL="0">
              <a:buNone/>
            </a:pPr>
            <a:r>
              <a:rPr lang="en-US" sz="1200" b="1" dirty="0">
                <a:solidFill>
                  <a:srgbClr val="5B6675"/>
                </a:solidFill>
                <a:latin typeface="Calibri" pitchFamily="34" charset="0"/>
                <a:ea typeface="Calibri" pitchFamily="34" charset="-122"/>
                <a:cs typeface="Calibri" pitchFamily="34" charset="-120"/>
              </a:rPr>
              <a:t>Output</a:t>
            </a:r>
            <a:endParaRPr lang="en-US" sz="1200" dirty="0"/>
          </a:p>
          <a:p>
            <a:pPr indent="0" marL="0">
              <a:buNone/>
            </a:pPr>
            <a:r>
              <a:rPr lang="en-US" sz="1400" dirty="0">
                <a:solidFill>
                  <a:srgbClr val="16233A"/>
                </a:solidFill>
                <a:latin typeface="Calibri" pitchFamily="34" charset="0"/>
                <a:ea typeface="Calibri" pitchFamily="34" charset="-122"/>
                <a:cs typeface="Calibri" pitchFamily="34" charset="-120"/>
              </a:rPr>
              <a:t>Hazard fields and ranges</a:t>
            </a:r>
            <a:endParaRPr lang="en-US" sz="1200" dirty="0"/>
          </a:p>
        </p:txBody>
      </p:sp>
      <p:sp>
        <p:nvSpPr>
          <p:cNvPr id="10" name="Text 8"/>
          <p:cNvSpPr/>
          <p:nvPr/>
        </p:nvSpPr>
        <p:spPr>
          <a:xfrm>
            <a:off x="5084064" y="1783080"/>
            <a:ext cx="2011680" cy="2286000"/>
          </a:xfrm>
          <a:prstGeom prst="rect">
            <a:avLst/>
          </a:prstGeom>
          <a:solidFill>
            <a:srgbClr val="FFFFFF"/>
          </a:solidFill>
          <a:ln w="12700">
            <a:solidFill>
              <a:srgbClr val="1E5F7A"/>
            </a:solidFill>
          </a:ln>
        </p:spPr>
        <p:txBody>
          <a:bodyPr wrap="square" lIns="127000" tIns="127000" rIns="127000" bIns="101600" rtlCol="0" anchor="t"/>
          <a:lstStyle/>
          <a:p>
            <a:pPr indent="0" marL="0">
              <a:spcAft>
                <a:spcPts val="800"/>
              </a:spcAft>
              <a:buNone/>
            </a:pPr>
            <a:r>
              <a:rPr lang="en-US" sz="1800" b="1" dirty="0">
                <a:solidFill>
                  <a:srgbClr val="16233A"/>
                </a:solidFill>
                <a:latin typeface="Cambria" pitchFamily="34" charset="0"/>
                <a:ea typeface="Cambria" pitchFamily="34" charset="-122"/>
                <a:cs typeface="Cambria" pitchFamily="34" charset="-120"/>
              </a:rPr>
              <a:t>3  Assess</a:t>
            </a:r>
            <a:endParaRPr lang="en-US" sz="1800" dirty="0"/>
          </a:p>
          <a:p>
            <a:pPr indent="0" marL="0">
              <a:buNone/>
            </a:pPr>
            <a:r>
              <a:rPr lang="en-US" sz="1500" dirty="0">
                <a:solidFill>
                  <a:srgbClr val="27303C"/>
                </a:solidFill>
                <a:latin typeface="Calibri" pitchFamily="34" charset="0"/>
                <a:ea typeface="Calibri" pitchFamily="34" charset="-122"/>
                <a:cs typeface="Calibri" pitchFamily="34" charset="-120"/>
              </a:rPr>
              <a:t>Hospitals, substations, roads and shelters from OpenStreetMap; flood-aware evacuation routes.</a:t>
            </a:r>
            <a:endParaRPr lang="en-US" sz="1800" dirty="0"/>
          </a:p>
        </p:txBody>
      </p:sp>
      <p:sp>
        <p:nvSpPr>
          <p:cNvPr id="11" name="Shape 9"/>
          <p:cNvSpPr/>
          <p:nvPr/>
        </p:nvSpPr>
        <p:spPr>
          <a:xfrm>
            <a:off x="7095744" y="2926080"/>
            <a:ext cx="256032" cy="0"/>
          </a:xfrm>
          <a:prstGeom prst="line">
            <a:avLst/>
          </a:prstGeom>
          <a:noFill/>
          <a:ln w="15875">
            <a:solidFill>
              <a:srgbClr val="5B6675"/>
            </a:solidFill>
            <a:prstDash val="solid"/>
            <a:tailEnd type="triangle"/>
          </a:ln>
        </p:spPr>
      </p:sp>
      <p:sp>
        <p:nvSpPr>
          <p:cNvPr id="12" name="Text 10"/>
          <p:cNvSpPr txBox="1"/>
          <p:nvPr/>
        </p:nvSpPr>
        <p:spPr>
          <a:xfrm>
            <a:off x="5084064" y="4206240"/>
            <a:ext cx="2011680" cy="822960"/>
          </a:xfrm>
          <a:prstGeom prst="rect">
            <a:avLst/>
          </a:prstGeom>
          <a:noFill/>
          <a:ln/>
        </p:spPr>
        <p:txBody>
          <a:bodyPr wrap="square" lIns="0" tIns="0" rIns="0" bIns="0" rtlCol="0" anchor="t"/>
          <a:lstStyle/>
          <a:p>
            <a:pPr indent="0" marL="0">
              <a:buNone/>
            </a:pPr>
            <a:r>
              <a:rPr lang="en-US" sz="1200" b="1" dirty="0">
                <a:solidFill>
                  <a:srgbClr val="5B6675"/>
                </a:solidFill>
                <a:latin typeface="Calibri" pitchFamily="34" charset="0"/>
                <a:ea typeface="Calibri" pitchFamily="34" charset="-122"/>
                <a:cs typeface="Calibri" pitchFamily="34" charset="-120"/>
              </a:rPr>
              <a:t>Output</a:t>
            </a:r>
            <a:endParaRPr lang="en-US" sz="1200" dirty="0"/>
          </a:p>
          <a:p>
            <a:pPr indent="0" marL="0">
              <a:buNone/>
            </a:pPr>
            <a:r>
              <a:rPr lang="en-US" sz="1400" dirty="0">
                <a:solidFill>
                  <a:srgbClr val="16233A"/>
                </a:solidFill>
                <a:latin typeface="Calibri" pitchFamily="34" charset="0"/>
                <a:ea typeface="Calibri" pitchFamily="34" charset="-122"/>
                <a:cs typeface="Calibri" pitchFamily="34" charset="-120"/>
              </a:rPr>
              <a:t>Per-asset status and time of first impact</a:t>
            </a:r>
            <a:endParaRPr lang="en-US" sz="1200" dirty="0"/>
          </a:p>
        </p:txBody>
      </p:sp>
      <p:sp>
        <p:nvSpPr>
          <p:cNvPr id="13" name="Text 11"/>
          <p:cNvSpPr/>
          <p:nvPr/>
        </p:nvSpPr>
        <p:spPr>
          <a:xfrm>
            <a:off x="7351776" y="1783080"/>
            <a:ext cx="2011680" cy="2286000"/>
          </a:xfrm>
          <a:prstGeom prst="rect">
            <a:avLst/>
          </a:prstGeom>
          <a:solidFill>
            <a:srgbClr val="EAF0F5"/>
          </a:solidFill>
          <a:ln w="12700">
            <a:solidFill>
              <a:srgbClr val="1E5F7A"/>
            </a:solidFill>
          </a:ln>
        </p:spPr>
        <p:txBody>
          <a:bodyPr wrap="square" lIns="127000" tIns="127000" rIns="127000" bIns="101600" rtlCol="0" anchor="t"/>
          <a:lstStyle/>
          <a:p>
            <a:pPr indent="0" marL="0">
              <a:spcAft>
                <a:spcPts val="800"/>
              </a:spcAft>
              <a:buNone/>
            </a:pPr>
            <a:r>
              <a:rPr lang="en-US" sz="1800" b="1" dirty="0">
                <a:solidFill>
                  <a:srgbClr val="16233A"/>
                </a:solidFill>
                <a:latin typeface="Cambria" pitchFamily="34" charset="0"/>
                <a:ea typeface="Cambria" pitchFamily="34" charset="-122"/>
                <a:cs typeface="Cambria" pitchFamily="34" charset="-120"/>
              </a:rPr>
              <a:t>4  Draft</a:t>
            </a:r>
            <a:endParaRPr lang="en-US" sz="1800" dirty="0"/>
          </a:p>
          <a:p>
            <a:pPr indent="0" marL="0">
              <a:buNone/>
            </a:pPr>
            <a:r>
              <a:rPr lang="en-US" sz="1500" dirty="0">
                <a:solidFill>
                  <a:srgbClr val="27303C"/>
                </a:solidFill>
                <a:latin typeface="Calibri" pitchFamily="34" charset="0"/>
                <a:ea typeface="Calibri" pitchFamily="34" charset="-122"/>
                <a:cs typeface="Calibri" pitchFamily="34" charset="-120"/>
              </a:rPr>
              <a:t>Gemini drafts audience-specific advisories from a facts packet; a validator checks every number.</a:t>
            </a:r>
            <a:endParaRPr lang="en-US" sz="1800" dirty="0"/>
          </a:p>
        </p:txBody>
      </p:sp>
      <p:sp>
        <p:nvSpPr>
          <p:cNvPr id="14" name="Shape 12"/>
          <p:cNvSpPr/>
          <p:nvPr/>
        </p:nvSpPr>
        <p:spPr>
          <a:xfrm>
            <a:off x="9363456" y="2926080"/>
            <a:ext cx="256032" cy="0"/>
          </a:xfrm>
          <a:prstGeom prst="line">
            <a:avLst/>
          </a:prstGeom>
          <a:noFill/>
          <a:ln w="15875">
            <a:solidFill>
              <a:srgbClr val="5B6675"/>
            </a:solidFill>
            <a:prstDash val="solid"/>
            <a:tailEnd type="triangle"/>
          </a:ln>
        </p:spPr>
      </p:sp>
      <p:sp>
        <p:nvSpPr>
          <p:cNvPr id="15" name="Text 13"/>
          <p:cNvSpPr txBox="1"/>
          <p:nvPr/>
        </p:nvSpPr>
        <p:spPr>
          <a:xfrm>
            <a:off x="7351776" y="4206240"/>
            <a:ext cx="2011680" cy="822960"/>
          </a:xfrm>
          <a:prstGeom prst="rect">
            <a:avLst/>
          </a:prstGeom>
          <a:noFill/>
          <a:ln/>
        </p:spPr>
        <p:txBody>
          <a:bodyPr wrap="square" lIns="0" tIns="0" rIns="0" bIns="0" rtlCol="0" anchor="t"/>
          <a:lstStyle/>
          <a:p>
            <a:pPr indent="0" marL="0">
              <a:buNone/>
            </a:pPr>
            <a:r>
              <a:rPr lang="en-US" sz="1200" b="1" dirty="0">
                <a:solidFill>
                  <a:srgbClr val="5B6675"/>
                </a:solidFill>
                <a:latin typeface="Calibri" pitchFamily="34" charset="0"/>
                <a:ea typeface="Calibri" pitchFamily="34" charset="-122"/>
                <a:cs typeface="Calibri" pitchFamily="34" charset="-120"/>
              </a:rPr>
              <a:t>Output</a:t>
            </a:r>
            <a:endParaRPr lang="en-US" sz="1200" dirty="0"/>
          </a:p>
          <a:p>
            <a:pPr indent="0" marL="0">
              <a:buNone/>
            </a:pPr>
            <a:r>
              <a:rPr lang="en-US" sz="1400" dirty="0">
                <a:solidFill>
                  <a:srgbClr val="16233A"/>
                </a:solidFill>
                <a:latin typeface="Calibri" pitchFamily="34" charset="0"/>
                <a:ea typeface="Calibri" pitchFamily="34" charset="-122"/>
                <a:cs typeface="Calibri" pitchFamily="34" charset="-120"/>
              </a:rPr>
              <a:t>Validated multilingual drafts</a:t>
            </a:r>
            <a:endParaRPr lang="en-US" sz="1200" dirty="0"/>
          </a:p>
        </p:txBody>
      </p:sp>
      <p:sp>
        <p:nvSpPr>
          <p:cNvPr id="16" name="Text 14"/>
          <p:cNvSpPr/>
          <p:nvPr/>
        </p:nvSpPr>
        <p:spPr>
          <a:xfrm>
            <a:off x="9619488" y="1783080"/>
            <a:ext cx="2011680" cy="2286000"/>
          </a:xfrm>
          <a:prstGeom prst="rect">
            <a:avLst/>
          </a:prstGeom>
          <a:solidFill>
            <a:srgbClr val="FFFFFF"/>
          </a:solidFill>
          <a:ln w="12700">
            <a:solidFill>
              <a:srgbClr val="1E5F7A"/>
            </a:solidFill>
          </a:ln>
        </p:spPr>
        <p:txBody>
          <a:bodyPr wrap="square" lIns="127000" tIns="127000" rIns="127000" bIns="101600" rtlCol="0" anchor="t"/>
          <a:lstStyle/>
          <a:p>
            <a:pPr indent="0" marL="0">
              <a:spcAft>
                <a:spcPts val="800"/>
              </a:spcAft>
              <a:buNone/>
            </a:pPr>
            <a:r>
              <a:rPr lang="en-US" sz="1800" b="1" dirty="0">
                <a:solidFill>
                  <a:srgbClr val="16233A"/>
                </a:solidFill>
                <a:latin typeface="Cambria" pitchFamily="34" charset="0"/>
                <a:ea typeface="Cambria" pitchFamily="34" charset="-122"/>
                <a:cs typeface="Cambria" pitchFamily="34" charset="-120"/>
              </a:rPr>
              <a:t>5  Approve and dispatch</a:t>
            </a:r>
            <a:endParaRPr lang="en-US" sz="1800" dirty="0"/>
          </a:p>
          <a:p>
            <a:pPr indent="0" marL="0">
              <a:buNone/>
            </a:pPr>
            <a:r>
              <a:rPr lang="en-US" sz="1500" dirty="0">
                <a:solidFill>
                  <a:srgbClr val="27303C"/>
                </a:solidFill>
                <a:latin typeface="Calibri" pitchFamily="34" charset="0"/>
                <a:ea typeface="Calibri" pitchFamily="34" charset="-122"/>
                <a:cs typeface="Calibri" pitchFamily="34" charset="-120"/>
              </a:rPr>
              <a:t>Maker-checker approval; CAP 1.2, Telegram with acknowledgement, webhook; hash-chained audit log.</a:t>
            </a:r>
            <a:endParaRPr lang="en-US" sz="1800" dirty="0"/>
          </a:p>
        </p:txBody>
      </p:sp>
      <p:sp>
        <p:nvSpPr>
          <p:cNvPr id="17" name="Text 15"/>
          <p:cNvSpPr txBox="1"/>
          <p:nvPr/>
        </p:nvSpPr>
        <p:spPr>
          <a:xfrm>
            <a:off x="9619488" y="4206240"/>
            <a:ext cx="2011680" cy="822960"/>
          </a:xfrm>
          <a:prstGeom prst="rect">
            <a:avLst/>
          </a:prstGeom>
          <a:noFill/>
          <a:ln/>
        </p:spPr>
        <p:txBody>
          <a:bodyPr wrap="square" lIns="0" tIns="0" rIns="0" bIns="0" rtlCol="0" anchor="t"/>
          <a:lstStyle/>
          <a:p>
            <a:pPr indent="0" marL="0">
              <a:buNone/>
            </a:pPr>
            <a:r>
              <a:rPr lang="en-US" sz="1200" b="1" dirty="0">
                <a:solidFill>
                  <a:srgbClr val="5B6675"/>
                </a:solidFill>
                <a:latin typeface="Calibri" pitchFamily="34" charset="0"/>
                <a:ea typeface="Calibri" pitchFamily="34" charset="-122"/>
                <a:cs typeface="Calibri" pitchFamily="34" charset="-120"/>
              </a:rPr>
              <a:t>Output</a:t>
            </a:r>
            <a:endParaRPr lang="en-US" sz="1200" dirty="0"/>
          </a:p>
          <a:p>
            <a:pPr indent="0" marL="0">
              <a:buNone/>
            </a:pPr>
            <a:r>
              <a:rPr lang="en-US" sz="1400" dirty="0">
                <a:solidFill>
                  <a:srgbClr val="16233A"/>
                </a:solidFill>
                <a:latin typeface="Calibri" pitchFamily="34" charset="0"/>
                <a:ea typeface="Calibri" pitchFamily="34" charset="-122"/>
                <a:cs typeface="Calibri" pitchFamily="34" charset="-120"/>
              </a:rPr>
              <a:t>Delivered, acknowledged, auditable</a:t>
            </a:r>
            <a:endParaRPr lang="en-US" sz="1200" dirty="0"/>
          </a:p>
        </p:txBody>
      </p:sp>
      <p:sp>
        <p:nvSpPr>
          <p:cNvPr id="18" name="Text 16"/>
          <p:cNvSpPr txBox="1"/>
          <p:nvPr/>
        </p:nvSpPr>
        <p:spPr>
          <a:xfrm>
            <a:off x="548640" y="5440680"/>
            <a:ext cx="11091672" cy="822960"/>
          </a:xfrm>
          <a:prstGeom prst="rect">
            <a:avLst/>
          </a:prstGeom>
          <a:noFill/>
          <a:ln/>
        </p:spPr>
        <p:txBody>
          <a:bodyPr wrap="square" lIns="0" tIns="0" rIns="0" bIns="0" rtlCol="0" anchor="t"/>
          <a:lstStyle/>
          <a:p>
            <a:pPr indent="0" marL="0">
              <a:buNone/>
            </a:pPr>
            <a:r>
              <a:rPr lang="en-US" sz="1600" b="1" dirty="0">
                <a:solidFill>
                  <a:srgbClr val="16233A"/>
                </a:solidFill>
                <a:latin typeface="Calibri" pitchFamily="34" charset="0"/>
                <a:ea typeface="Calibri" pitchFamily="34" charset="-122"/>
                <a:cs typeface="Calibri" pitchFamily="34" charset="-120"/>
              </a:rPr>
              <a:t>Design principle. </a:t>
            </a:r>
            <a:pPr indent="0" marL="0">
              <a:buNone/>
            </a:pPr>
            <a:r>
              <a:rPr lang="en-US" sz="1600" dirty="0">
                <a:solidFill>
                  <a:srgbClr val="27303C"/>
                </a:solidFill>
                <a:latin typeface="Calibri" pitchFamily="34" charset="0"/>
                <a:ea typeface="Calibri" pitchFamily="34" charset="-122"/>
                <a:cs typeface="Calibri" pitchFamily="34" charset="-120"/>
              </a:rPr>
              <a:t>Numbers come from code; words come from the model. The model has no dispatch capability, and severity is set by rules from IMD's own warning clock (Watch 72 h, Alert 48 h, Warning 24 h, Outlook 12 h) combined with the modelled hazard.</a:t>
            </a:r>
            <a:endParaRPr lang="en-US" sz="16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4. System architecture</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A layered design keeps computation deterministic and confines the language model to reading and writing</a:t>
            </a:r>
            <a:endParaRPr lang="en-US" sz="2800" dirty="0"/>
          </a:p>
        </p:txBody>
      </p:sp>
      <p:sp>
        <p:nvSpPr>
          <p:cNvPr id="4" name="Text 2"/>
          <p:cNvSpPr txBox="1"/>
          <p:nvPr/>
        </p:nvSpPr>
        <p:spPr>
          <a:xfrm>
            <a:off x="548640" y="1691640"/>
            <a:ext cx="2057400" cy="640080"/>
          </a:xfrm>
          <a:prstGeom prst="rect">
            <a:avLst/>
          </a:prstGeom>
          <a:noFill/>
          <a:ln/>
        </p:spPr>
        <p:txBody>
          <a:bodyPr wrap="square" lIns="0" tIns="0" rIns="0" bIns="0" rtlCol="0" anchor="ctr"/>
          <a:lstStyle/>
          <a:p>
            <a:pPr indent="0" marL="0">
              <a:buNone/>
            </a:pPr>
            <a:r>
              <a:rPr lang="en-US" sz="1500" b="1" dirty="0">
                <a:solidFill>
                  <a:srgbClr val="16233A"/>
                </a:solidFill>
                <a:latin typeface="Cambria" pitchFamily="34" charset="0"/>
                <a:ea typeface="Cambria" pitchFamily="34" charset="-122"/>
                <a:cs typeface="Cambria" pitchFamily="34" charset="-120"/>
              </a:rPr>
              <a:t>Inputs</a:t>
            </a:r>
            <a:endParaRPr lang="en-US" sz="1500" dirty="0"/>
          </a:p>
        </p:txBody>
      </p:sp>
      <p:sp>
        <p:nvSpPr>
          <p:cNvPr id="5" name="Text 3"/>
          <p:cNvSpPr/>
          <p:nvPr/>
        </p:nvSpPr>
        <p:spPr>
          <a:xfrm>
            <a:off x="2788920" y="1691640"/>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IMD bulletin (PDF, image)</a:t>
            </a:r>
            <a:endParaRPr lang="en-US" sz="1300" dirty="0"/>
          </a:p>
        </p:txBody>
      </p:sp>
      <p:sp>
        <p:nvSpPr>
          <p:cNvPr id="6" name="Text 4"/>
          <p:cNvSpPr/>
          <p:nvPr/>
        </p:nvSpPr>
        <p:spPr>
          <a:xfrm>
            <a:off x="5010912" y="1691640"/>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Replayed best tracks (JTWC)</a:t>
            </a:r>
            <a:endParaRPr lang="en-US" sz="1300" dirty="0"/>
          </a:p>
        </p:txBody>
      </p:sp>
      <p:sp>
        <p:nvSpPr>
          <p:cNvPr id="7" name="Text 5"/>
          <p:cNvSpPr/>
          <p:nvPr/>
        </p:nvSpPr>
        <p:spPr>
          <a:xfrm>
            <a:off x="7232904" y="1691640"/>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OpenStreetMap infrastructure</a:t>
            </a:r>
            <a:endParaRPr lang="en-US" sz="1300" dirty="0"/>
          </a:p>
        </p:txBody>
      </p:sp>
      <p:sp>
        <p:nvSpPr>
          <p:cNvPr id="8" name="Text 6"/>
          <p:cNvSpPr/>
          <p:nvPr/>
        </p:nvSpPr>
        <p:spPr>
          <a:xfrm>
            <a:off x="9454896" y="1691640"/>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Terrain and Earth Engine layers</a:t>
            </a:r>
            <a:endParaRPr lang="en-US" sz="1300" dirty="0"/>
          </a:p>
        </p:txBody>
      </p:sp>
      <p:sp>
        <p:nvSpPr>
          <p:cNvPr id="9" name="Text 7"/>
          <p:cNvSpPr txBox="1"/>
          <p:nvPr/>
        </p:nvSpPr>
        <p:spPr>
          <a:xfrm>
            <a:off x="548640" y="2496312"/>
            <a:ext cx="2057400" cy="640080"/>
          </a:xfrm>
          <a:prstGeom prst="rect">
            <a:avLst/>
          </a:prstGeom>
          <a:noFill/>
          <a:ln/>
        </p:spPr>
        <p:txBody>
          <a:bodyPr wrap="square" lIns="0" tIns="0" rIns="0" bIns="0" rtlCol="0" anchor="ctr"/>
          <a:lstStyle/>
          <a:p>
            <a:pPr indent="0" marL="0">
              <a:buNone/>
            </a:pPr>
            <a:r>
              <a:rPr lang="en-US" sz="1500" b="1" dirty="0">
                <a:solidFill>
                  <a:srgbClr val="16233A"/>
                </a:solidFill>
                <a:latin typeface="Cambria" pitchFamily="34" charset="0"/>
                <a:ea typeface="Cambria" pitchFamily="34" charset="-122"/>
                <a:cs typeface="Cambria" pitchFamily="34" charset="-120"/>
              </a:rPr>
              <a:t>Deterministic analysis</a:t>
            </a:r>
            <a:endParaRPr lang="en-US" sz="1500" dirty="0"/>
          </a:p>
        </p:txBody>
      </p:sp>
      <p:sp>
        <p:nvSpPr>
          <p:cNvPr id="10" name="Text 8"/>
          <p:cNvSpPr/>
          <p:nvPr/>
        </p:nvSpPr>
        <p:spPr>
          <a:xfrm>
            <a:off x="2788920" y="2496312"/>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Hazard engine: wind, surge, flooding, rain</a:t>
            </a:r>
            <a:endParaRPr lang="en-US" sz="1300" dirty="0"/>
          </a:p>
        </p:txBody>
      </p:sp>
      <p:sp>
        <p:nvSpPr>
          <p:cNvPr id="11" name="Text 9"/>
          <p:cNvSpPr/>
          <p:nvPr/>
        </p:nvSpPr>
        <p:spPr>
          <a:xfrm>
            <a:off x="5010912" y="2496312"/>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Asset impact and evacuation routing</a:t>
            </a:r>
            <a:endParaRPr lang="en-US" sz="1300" dirty="0"/>
          </a:p>
        </p:txBody>
      </p:sp>
      <p:sp>
        <p:nvSpPr>
          <p:cNvPr id="12" name="Text 10"/>
          <p:cNvSpPr/>
          <p:nvPr/>
        </p:nvSpPr>
        <p:spPr>
          <a:xfrm>
            <a:off x="7232904" y="2496312"/>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Nine-scenario ensemble</a:t>
            </a:r>
            <a:endParaRPr lang="en-US" sz="1300" dirty="0"/>
          </a:p>
        </p:txBody>
      </p:sp>
      <p:sp>
        <p:nvSpPr>
          <p:cNvPr id="13" name="Text 11"/>
          <p:cNvSpPr/>
          <p:nvPr/>
        </p:nvSpPr>
        <p:spPr>
          <a:xfrm>
            <a:off x="9454896" y="2496312"/>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Finance trigger monitor</a:t>
            </a:r>
            <a:endParaRPr lang="en-US" sz="1300" dirty="0"/>
          </a:p>
        </p:txBody>
      </p:sp>
      <p:sp>
        <p:nvSpPr>
          <p:cNvPr id="14" name="Text 12"/>
          <p:cNvSpPr txBox="1"/>
          <p:nvPr/>
        </p:nvSpPr>
        <p:spPr>
          <a:xfrm>
            <a:off x="548640" y="3300984"/>
            <a:ext cx="2057400" cy="640080"/>
          </a:xfrm>
          <a:prstGeom prst="rect">
            <a:avLst/>
          </a:prstGeom>
          <a:noFill/>
          <a:ln/>
        </p:spPr>
        <p:txBody>
          <a:bodyPr wrap="square" lIns="0" tIns="0" rIns="0" bIns="0" rtlCol="0" anchor="ctr"/>
          <a:lstStyle/>
          <a:p>
            <a:pPr indent="0" marL="0">
              <a:buNone/>
            </a:pPr>
            <a:r>
              <a:rPr lang="en-US" sz="1500" b="1" dirty="0">
                <a:solidFill>
                  <a:srgbClr val="16233A"/>
                </a:solidFill>
                <a:latin typeface="Cambria" pitchFamily="34" charset="0"/>
                <a:ea typeface="Cambria" pitchFamily="34" charset="-122"/>
                <a:cs typeface="Cambria" pitchFamily="34" charset="-120"/>
              </a:rPr>
              <a:t>Language model (Gemini 3.7 Flash)</a:t>
            </a:r>
            <a:endParaRPr lang="en-US" sz="1500" dirty="0"/>
          </a:p>
        </p:txBody>
      </p:sp>
      <p:sp>
        <p:nvSpPr>
          <p:cNvPr id="15" name="Text 13"/>
          <p:cNvSpPr/>
          <p:nvPr/>
        </p:nvSpPr>
        <p:spPr>
          <a:xfrm>
            <a:off x="2788920" y="3300984"/>
            <a:ext cx="2103120" cy="640080"/>
          </a:xfrm>
          <a:prstGeom prst="rect">
            <a:avLst/>
          </a:prstGeom>
          <a:solidFill>
            <a:srgbClr val="EAF0F5"/>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Bulletin reader</a:t>
            </a:r>
            <a:endParaRPr lang="en-US" sz="1300" dirty="0"/>
          </a:p>
        </p:txBody>
      </p:sp>
      <p:sp>
        <p:nvSpPr>
          <p:cNvPr id="16" name="Text 14"/>
          <p:cNvSpPr/>
          <p:nvPr/>
        </p:nvSpPr>
        <p:spPr>
          <a:xfrm>
            <a:off x="5010912" y="3300984"/>
            <a:ext cx="2103120" cy="640080"/>
          </a:xfrm>
          <a:prstGeom prst="rect">
            <a:avLst/>
          </a:prstGeom>
          <a:solidFill>
            <a:srgbClr val="EAF0F5"/>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Advisory writer</a:t>
            </a:r>
            <a:endParaRPr lang="en-US" sz="1300" dirty="0"/>
          </a:p>
        </p:txBody>
      </p:sp>
      <p:sp>
        <p:nvSpPr>
          <p:cNvPr id="17" name="Text 15"/>
          <p:cNvSpPr/>
          <p:nvPr/>
        </p:nvSpPr>
        <p:spPr>
          <a:xfrm>
            <a:off x="7232904" y="3300984"/>
            <a:ext cx="2103120" cy="640080"/>
          </a:xfrm>
          <a:prstGeom prst="rect">
            <a:avLst/>
          </a:prstGeom>
          <a:solidFill>
            <a:srgbClr val="EAF0F5"/>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Officer copilot (function calling)</a:t>
            </a:r>
            <a:endParaRPr lang="en-US" sz="1300" dirty="0"/>
          </a:p>
        </p:txBody>
      </p:sp>
      <p:sp>
        <p:nvSpPr>
          <p:cNvPr id="18" name="Text 16"/>
          <p:cNvSpPr/>
          <p:nvPr/>
        </p:nvSpPr>
        <p:spPr>
          <a:xfrm>
            <a:off x="9454896" y="3300984"/>
            <a:ext cx="2103120" cy="640080"/>
          </a:xfrm>
          <a:prstGeom prst="rect">
            <a:avLst/>
          </a:prstGeom>
          <a:solidFill>
            <a:srgbClr val="EAF0F5"/>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Validator (code): numbers, places, injection</a:t>
            </a:r>
            <a:endParaRPr lang="en-US" sz="1300" dirty="0"/>
          </a:p>
        </p:txBody>
      </p:sp>
      <p:sp>
        <p:nvSpPr>
          <p:cNvPr id="19" name="Text 17"/>
          <p:cNvSpPr txBox="1"/>
          <p:nvPr/>
        </p:nvSpPr>
        <p:spPr>
          <a:xfrm>
            <a:off x="548640" y="4105656"/>
            <a:ext cx="2057400" cy="640080"/>
          </a:xfrm>
          <a:prstGeom prst="rect">
            <a:avLst/>
          </a:prstGeom>
          <a:noFill/>
          <a:ln/>
        </p:spPr>
        <p:txBody>
          <a:bodyPr wrap="square" lIns="0" tIns="0" rIns="0" bIns="0" rtlCol="0" anchor="ctr"/>
          <a:lstStyle/>
          <a:p>
            <a:pPr indent="0" marL="0">
              <a:buNone/>
            </a:pPr>
            <a:r>
              <a:rPr lang="en-US" sz="1500" b="1" dirty="0">
                <a:solidFill>
                  <a:srgbClr val="16233A"/>
                </a:solidFill>
                <a:latin typeface="Cambria" pitchFamily="34" charset="0"/>
                <a:ea typeface="Cambria" pitchFamily="34" charset="-122"/>
                <a:cs typeface="Cambria" pitchFamily="34" charset="-120"/>
              </a:rPr>
              <a:t>Control and delivery</a:t>
            </a:r>
            <a:endParaRPr lang="en-US" sz="1500" dirty="0"/>
          </a:p>
        </p:txBody>
      </p:sp>
      <p:sp>
        <p:nvSpPr>
          <p:cNvPr id="20" name="Text 18"/>
          <p:cNvSpPr/>
          <p:nvPr/>
        </p:nvSpPr>
        <p:spPr>
          <a:xfrm>
            <a:off x="2788920" y="4105656"/>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Maker-checker approval</a:t>
            </a:r>
            <a:endParaRPr lang="en-US" sz="1300" dirty="0"/>
          </a:p>
        </p:txBody>
      </p:sp>
      <p:sp>
        <p:nvSpPr>
          <p:cNvPr id="21" name="Text 19"/>
          <p:cNvSpPr/>
          <p:nvPr/>
        </p:nvSpPr>
        <p:spPr>
          <a:xfrm>
            <a:off x="5010912" y="4105656"/>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CAP 1.2 (Exercise, Restricted)</a:t>
            </a:r>
            <a:endParaRPr lang="en-US" sz="1300" dirty="0"/>
          </a:p>
        </p:txBody>
      </p:sp>
      <p:sp>
        <p:nvSpPr>
          <p:cNvPr id="22" name="Text 20"/>
          <p:cNvSpPr/>
          <p:nvPr/>
        </p:nvSpPr>
        <p:spPr>
          <a:xfrm>
            <a:off x="7232904" y="4105656"/>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Telegram with acknowledgement</a:t>
            </a:r>
            <a:endParaRPr lang="en-US" sz="1300" dirty="0"/>
          </a:p>
        </p:txBody>
      </p:sp>
      <p:sp>
        <p:nvSpPr>
          <p:cNvPr id="23" name="Text 21"/>
          <p:cNvSpPr/>
          <p:nvPr/>
        </p:nvSpPr>
        <p:spPr>
          <a:xfrm>
            <a:off x="9454896" y="4105656"/>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Webhook to DEOC receiver</a:t>
            </a:r>
            <a:endParaRPr lang="en-US" sz="1300" dirty="0"/>
          </a:p>
        </p:txBody>
      </p:sp>
      <p:sp>
        <p:nvSpPr>
          <p:cNvPr id="24" name="Text 22"/>
          <p:cNvSpPr txBox="1"/>
          <p:nvPr/>
        </p:nvSpPr>
        <p:spPr>
          <a:xfrm>
            <a:off x="548640" y="4910328"/>
            <a:ext cx="2057400" cy="640080"/>
          </a:xfrm>
          <a:prstGeom prst="rect">
            <a:avLst/>
          </a:prstGeom>
          <a:noFill/>
          <a:ln/>
        </p:spPr>
        <p:txBody>
          <a:bodyPr wrap="square" lIns="0" tIns="0" rIns="0" bIns="0" rtlCol="0" anchor="ctr"/>
          <a:lstStyle/>
          <a:p>
            <a:pPr indent="0" marL="0">
              <a:buNone/>
            </a:pPr>
            <a:r>
              <a:rPr lang="en-US" sz="1500" b="1" dirty="0">
                <a:solidFill>
                  <a:srgbClr val="16233A"/>
                </a:solidFill>
                <a:latin typeface="Cambria" pitchFamily="34" charset="0"/>
                <a:ea typeface="Cambria" pitchFamily="34" charset="-122"/>
                <a:cs typeface="Cambria" pitchFamily="34" charset="-120"/>
              </a:rPr>
              <a:t>Trust</a:t>
            </a:r>
            <a:endParaRPr lang="en-US" sz="1500" dirty="0"/>
          </a:p>
        </p:txBody>
      </p:sp>
      <p:sp>
        <p:nvSpPr>
          <p:cNvPr id="25" name="Text 23"/>
          <p:cNvSpPr/>
          <p:nvPr/>
        </p:nvSpPr>
        <p:spPr>
          <a:xfrm>
            <a:off x="2788920" y="4910328"/>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Hash-chained audit log</a:t>
            </a:r>
            <a:endParaRPr lang="en-US" sz="1300" dirty="0"/>
          </a:p>
        </p:txBody>
      </p:sp>
      <p:sp>
        <p:nvSpPr>
          <p:cNvPr id="26" name="Text 24"/>
          <p:cNvSpPr/>
          <p:nvPr/>
        </p:nvSpPr>
        <p:spPr>
          <a:xfrm>
            <a:off x="5010912" y="4910328"/>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AI-call trace</a:t>
            </a:r>
            <a:endParaRPr lang="en-US" sz="1300" dirty="0"/>
          </a:p>
        </p:txBody>
      </p:sp>
      <p:sp>
        <p:nvSpPr>
          <p:cNvPr id="27" name="Text 25"/>
          <p:cNvSpPr/>
          <p:nvPr/>
        </p:nvSpPr>
        <p:spPr>
          <a:xfrm>
            <a:off x="7232904" y="4910328"/>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Cache of real Gemini outputs</a:t>
            </a:r>
            <a:endParaRPr lang="en-US" sz="1300" dirty="0"/>
          </a:p>
        </p:txBody>
      </p:sp>
      <p:sp>
        <p:nvSpPr>
          <p:cNvPr id="28" name="Text 26"/>
          <p:cNvSpPr/>
          <p:nvPr/>
        </p:nvSpPr>
        <p:spPr>
          <a:xfrm>
            <a:off x="9454896" y="4910328"/>
            <a:ext cx="2103120" cy="640080"/>
          </a:xfrm>
          <a:prstGeom prst="rect">
            <a:avLst/>
          </a:prstGeom>
          <a:solidFill>
            <a:srgbClr val="FFFFFF"/>
          </a:solidFill>
          <a:ln w="12700">
            <a:solidFill>
              <a:srgbClr val="1E5F7A"/>
            </a:solidFill>
          </a:ln>
        </p:spPr>
        <p:txBody>
          <a:bodyPr wrap="square" lIns="50800" tIns="76200" rIns="76200" bIns="50800" rtlCol="0" anchor="ctr"/>
          <a:lstStyle/>
          <a:p>
            <a:pPr algn="ctr" indent="0" marL="0">
              <a:buNone/>
            </a:pPr>
            <a:r>
              <a:rPr lang="en-US" sz="1300" dirty="0">
                <a:solidFill>
                  <a:srgbClr val="16233A"/>
                </a:solidFill>
                <a:latin typeface="Calibri" pitchFamily="34" charset="0"/>
                <a:ea typeface="Calibri" pitchFamily="34" charset="-122"/>
                <a:cs typeface="Calibri" pitchFamily="34" charset="-120"/>
              </a:rPr>
              <a:t>Methodology and calibration panel</a:t>
            </a:r>
            <a:endParaRPr lang="en-US" sz="1300" dirty="0"/>
          </a:p>
        </p:txBody>
      </p:sp>
      <p:sp>
        <p:nvSpPr>
          <p:cNvPr id="29" name="Text 27"/>
          <p:cNvSpPr txBox="1"/>
          <p:nvPr/>
        </p:nvSpPr>
        <p:spPr>
          <a:xfrm>
            <a:off x="548640" y="5760720"/>
            <a:ext cx="11091672" cy="5486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Figure 1. Layered architecture, read top to bottom; the shaded band is the only place a language model is involved. One FastAPI service serves the API and the single-page interface from one Cloud Run container; every dependency (Gemini, Earth Engine, Telegram) has a labelled degraded mode.</a:t>
            </a:r>
            <a:endParaRPr lang="en-US" sz="12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5. Google AI and Google Cloud</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Gemini performs three distinct jobs, and each is bounded by a deterministic safeguard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737360"/>
                <a:gridCol w="2514600"/>
                <a:gridCol w="3657600"/>
                <a:gridCol w="3182112"/>
              </a:tblGrid>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Google product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Function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Safeguard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7315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Bulletin reader</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Gemini 3.7 Flash: multimodal input, structured output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Converts an IMD bulletin (PDF or image) into a validated track and intensity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JSON schema; range and time-order checks; source shown beside extraction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7315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Advisory writer</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Gemini 3.7 Flash: structured output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Drafts audience-specific advisories and translations (Telugu, Odia, Hindi, Bengali, Tamil, Vietnamese)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Tier set by rules; numbers and names validated; labelled template fallback</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Officer copilot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Gemini 3.7 Flash: function calling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Answers questions by calling seven analysis tools on the current simulation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No dispatch tool; numbers checked against tool output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7315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Geospatial data</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Google Earth Engine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NOAA GFS rain; GHSL population and Open Buildings in the flood zone; map tiles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Fails soft to open terrain tiles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Hosting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Cloud Run, Cloud Build, Secret Manager</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One container serves the API and the interface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Configurable model ID; fallback chain; cached real outputs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5" name="Text 2"/>
          <p:cNvSpPr txBox="1"/>
          <p:nvPr/>
        </p:nvSpPr>
        <p:spPr>
          <a:xfrm>
            <a:off x="548640" y="5669280"/>
            <a:ext cx="11091672" cy="640080"/>
          </a:xfrm>
          <a:prstGeom prst="rect">
            <a:avLst/>
          </a:prstGeom>
          <a:noFill/>
          <a:ln/>
        </p:spPr>
        <p:txBody>
          <a:bodyPr wrap="square" lIns="0" tIns="0" rIns="0" bIns="0" rtlCol="0" anchor="t"/>
          <a:lstStyle/>
          <a:p>
            <a:pPr indent="0" marL="0">
              <a:buNone/>
            </a:pPr>
            <a:r>
              <a:rPr lang="en-US" sz="1400" b="1" dirty="0">
                <a:solidFill>
                  <a:srgbClr val="16233A"/>
                </a:solidFill>
                <a:latin typeface="Calibri" pitchFamily="34" charset="0"/>
                <a:ea typeface="Calibri" pitchFamily="34" charset="-122"/>
                <a:cs typeface="Calibri" pitchFamily="34" charset="-120"/>
              </a:rPr>
              <a:t>Operational detail. </a:t>
            </a:r>
            <a:pPr indent="0" marL="0">
              <a:buNone/>
            </a:pPr>
            <a:r>
              <a:rPr lang="en-US" sz="1400" dirty="0">
                <a:solidFill>
                  <a:srgbClr val="27303C"/>
                </a:solidFill>
                <a:latin typeface="Calibri" pitchFamily="34" charset="0"/>
                <a:ea typeface="Calibri" pitchFamily="34" charset="-122"/>
                <a:cs typeface="Calibri" pitchFamily="34" charset="-120"/>
              </a:rPr>
              <a:t>The thinking level is set explicitly (Gemini 3 defaults to high, and MINIMAL is unsupported on 3.7 Flash); temperature is left at its default; a circuit breaker skips a model that returns quota or overload errors; every call appears in an in-app trace.</a:t>
            </a:r>
            <a:endParaRPr lang="en-US" sz="14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6. Methodology</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Every quantity in an advisory is computed by code from cited, transparent methods, never generated by the model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28800"/>
                <a:gridCol w="5577840"/>
                <a:gridCol w="3685032"/>
              </a:tblGrid>
              <a:tr h="347472">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5029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Wind field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Parametric radial profile; surface reduction 0.85; 20-degree inflow; translation asymmetry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Holland (1980)</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029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Surge and flooding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Inverse barometer, wind set-up and tide with a per-coast multiplier; sea-connected bathtub with 0.2 m per km inland attenuation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Steady-state balance; Pielke and Pielke (1997)</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Rain and pathways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R-CLIPER rain prior; priority-flood basins; D8 flow accumulation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Tuleya et al. (2007); Barnes et al. (2014)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029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Asset status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Explicit thresholds: gale 62, damaging 89, destructive 118 km/h; 0.3 m road passability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IMD classes; Pregnolato et al. (2017)</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Expected loss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Sigmoid loss ratio, half-damage wind 58.7 m/s (Indian Ocean)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Emanuel (2011); Eberenz et al. (2021)</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0292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Uncertainty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Nine scenarios (track ±40 km by intensity ±10 kt); share of scenarios that hit each asset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Design choice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5" name="Text 2"/>
          <p:cNvSpPr txBox="1"/>
          <p:nvPr/>
        </p:nvSpPr>
        <p:spPr>
          <a:xfrm>
            <a:off x="548640" y="5349240"/>
            <a:ext cx="11091672" cy="548640"/>
          </a:xfrm>
          <a:prstGeom prst="rect">
            <a:avLst/>
          </a:prstGeom>
          <a:noFill/>
          <a:ln/>
        </p:spPr>
        <p:txBody>
          <a:bodyPr wrap="square" lIns="0" tIns="0" rIns="0" bIns="0" rtlCol="0" anchor="t"/>
          <a:lstStyle/>
          <a:p>
            <a:pPr indent="0" marL="0">
              <a:spcAft>
                <a:spcPts val="300"/>
              </a:spcAft>
              <a:buNone/>
            </a:pPr>
            <a:r>
              <a:rPr lang="en-US" sz="1500" dirty="0">
                <a:solidFill>
                  <a:srgbClr val="16233A"/>
                </a:solidFill>
                <a:latin typeface="Cambria" pitchFamily="34" charset="0"/>
                <a:ea typeface="Cambria" pitchFamily="34" charset="-122"/>
                <a:cs typeface="Cambria" pitchFamily="34" charset="-120"/>
              </a:rPr>
              <a:t>η  =  k · [ 0.01 · (p</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env</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 p</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local</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  τ L / (ρ</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w</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g h) ]  +  tide</a:t>
            </a:r>
            <a:endParaRPr lang="en-US" sz="1500" dirty="0"/>
          </a:p>
          <a:p>
            <a:pPr indent="0" marL="0">
              <a:spcAft>
                <a:spcPts val="300"/>
              </a:spcAft>
              <a:buNone/>
            </a:pPr>
            <a:r>
              <a:rPr lang="en-US" sz="1500" dirty="0">
                <a:solidFill>
                  <a:srgbClr val="16233A"/>
                </a:solidFill>
                <a:latin typeface="Cambria" pitchFamily="34" charset="0"/>
                <a:ea typeface="Cambria" pitchFamily="34" charset="-122"/>
                <a:cs typeface="Cambria" pitchFamily="34" charset="-120"/>
              </a:rPr>
              <a:t>τ  =  ρ</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a</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C</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d</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U</a:t>
            </a:r>
            <a:pPr indent="0" marL="0">
              <a:spcAft>
                <a:spcPts val="300"/>
              </a:spcAft>
              <a:buNone/>
            </a:pPr>
            <a:r>
              <a:rPr lang="en-US" sz="1500" baseline="30000" dirty="0">
                <a:solidFill>
                  <a:srgbClr val="16233A"/>
                </a:solidFill>
                <a:latin typeface="Cambria" pitchFamily="34" charset="0"/>
                <a:ea typeface="Cambria" pitchFamily="34" charset="-122"/>
                <a:cs typeface="Cambria" pitchFamily="34" charset="-120"/>
              </a:rPr>
              <a:t>2</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C</a:t>
            </a:r>
            <a:pPr indent="0" marL="0">
              <a:spcAft>
                <a:spcPts val="300"/>
              </a:spcAft>
              <a:buNone/>
            </a:pPr>
            <a:r>
              <a:rPr lang="en-US" sz="1500" baseline="-40000" dirty="0">
                <a:solidFill>
                  <a:srgbClr val="16233A"/>
                </a:solidFill>
                <a:latin typeface="Cambria" pitchFamily="34" charset="0"/>
                <a:ea typeface="Cambria" pitchFamily="34" charset="-122"/>
                <a:cs typeface="Cambria" pitchFamily="34" charset="-120"/>
              </a:rPr>
              <a:t>d</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  min [ (0.75 + 0.067 U) · 10</a:t>
            </a:r>
            <a:pPr indent="0" marL="0">
              <a:spcAft>
                <a:spcPts val="300"/>
              </a:spcAft>
              <a:buNone/>
            </a:pPr>
            <a:r>
              <a:rPr lang="en-US" sz="1500" baseline="30000" dirty="0">
                <a:solidFill>
                  <a:srgbClr val="16233A"/>
                </a:solidFill>
                <a:latin typeface="Cambria" pitchFamily="34" charset="0"/>
                <a:ea typeface="Cambria" pitchFamily="34" charset="-122"/>
                <a:cs typeface="Cambria" pitchFamily="34" charset="-120"/>
              </a:rPr>
              <a:t>−3</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2.5 · 10</a:t>
            </a:r>
            <a:pPr indent="0" marL="0">
              <a:spcAft>
                <a:spcPts val="300"/>
              </a:spcAft>
              <a:buNone/>
            </a:pPr>
            <a:r>
              <a:rPr lang="en-US" sz="1500" baseline="30000" dirty="0">
                <a:solidFill>
                  <a:srgbClr val="16233A"/>
                </a:solidFill>
                <a:latin typeface="Cambria" pitchFamily="34" charset="0"/>
                <a:ea typeface="Cambria" pitchFamily="34" charset="-122"/>
                <a:cs typeface="Cambria" pitchFamily="34" charset="-120"/>
              </a:rPr>
              <a:t>−3</a:t>
            </a:r>
            <a:pPr indent="0" marL="0">
              <a:spcAft>
                <a:spcPts val="300"/>
              </a:spcAft>
              <a:buNone/>
            </a:pPr>
            <a:r>
              <a:rPr lang="en-US" sz="1500" dirty="0">
                <a:solidFill>
                  <a:srgbClr val="16233A"/>
                </a:solidFill>
                <a:latin typeface="Cambria" pitchFamily="34" charset="0"/>
                <a:ea typeface="Cambria" pitchFamily="34" charset="-122"/>
                <a:cs typeface="Cambria" pitchFamily="34" charset="-120"/>
              </a:rPr>
              <a:t> ]</a:t>
            </a:r>
            <a:endParaRPr lang="en-US" sz="1500" dirty="0"/>
          </a:p>
        </p:txBody>
      </p:sp>
      <p:sp>
        <p:nvSpPr>
          <p:cNvPr id="6" name="Text 3"/>
          <p:cNvSpPr txBox="1"/>
          <p:nvPr/>
        </p:nvSpPr>
        <p:spPr>
          <a:xfrm>
            <a:off x="548640" y="6035040"/>
            <a:ext cx="11091672"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Storm-tide budget for a coastal sector (p in hPa; L and h: effective shelf width and mean depth; U: wind component toward land; k: per-coast calibration multiplier).</a:t>
            </a:r>
            <a:endParaRPr lang="en-US" sz="12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7. Verification and limitations</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What is verified, what is calibrated, and what is not claimed</a:t>
            </a:r>
            <a:endParaRPr lang="en-US" sz="2800" dirty="0"/>
          </a:p>
        </p:txBody>
      </p:sp>
      <p:sp>
        <p:nvSpPr>
          <p:cNvPr id="4" name="Text 2"/>
          <p:cNvSpPr txBox="1"/>
          <p:nvPr/>
        </p:nvSpPr>
        <p:spPr>
          <a:xfrm>
            <a:off x="548640" y="1371600"/>
            <a:ext cx="512064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Automated verification</a:t>
            </a:r>
            <a:endParaRPr lang="en-US" sz="1800" dirty="0"/>
          </a:p>
        </p:txBody>
      </p:sp>
      <p:sp>
        <p:nvSpPr>
          <p:cNvPr id="5" name="Text 3"/>
          <p:cNvSpPr txBox="1"/>
          <p:nvPr/>
        </p:nvSpPr>
        <p:spPr>
          <a:xfrm>
            <a:off x="548640" y="1783080"/>
            <a:ext cx="5212080"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7303C"/>
                </a:solidFill>
                <a:latin typeface="Calibri" pitchFamily="34" charset="0"/>
                <a:ea typeface="Calibri" pitchFamily="34" charset="-122"/>
                <a:cs typeface="Calibri" pitchFamily="34" charset="-120"/>
              </a:rPr>
              <a:t>55 automated tests cover parsers, physics benchmarks, the API, approval rules, CAP safety fields, audit tamper detection and cache integrity.</a:t>
            </a:r>
            <a:endParaRPr lang="en-US" sz="1500" dirty="0"/>
          </a:p>
          <a:p>
            <a:pPr marL="203200" indent="-203200">
              <a:spcAft>
                <a:spcPts val="800"/>
              </a:spcAft>
              <a:buSzPct val="100000"/>
              <a:buChar char="•"/>
            </a:pPr>
            <a:r>
              <a:rPr lang="en-US" sz="1500" dirty="0">
                <a:solidFill>
                  <a:srgbClr val="27303C"/>
                </a:solidFill>
                <a:latin typeface="Calibri" pitchFamily="34" charset="0"/>
                <a:ea typeface="Calibri" pitchFamily="34" charset="-122"/>
                <a:cs typeface="Calibri" pitchFamily="34" charset="-120"/>
              </a:rPr>
              <a:t>A validator checks each draft: numbers must exist in the model output (digits of any script) and names must exist; no URLs, phone numbers or injected instructions; uncertainty is required.</a:t>
            </a:r>
            <a:endParaRPr lang="en-US" sz="1500" dirty="0"/>
          </a:p>
          <a:p>
            <a:pPr marL="203200" indent="-203200">
              <a:spcAft>
                <a:spcPts val="800"/>
              </a:spcAft>
              <a:buSzPct val="100000"/>
              <a:buChar char="•"/>
            </a:pPr>
            <a:r>
              <a:rPr lang="en-US" sz="1500" dirty="0">
                <a:solidFill>
                  <a:srgbClr val="27303C"/>
                </a:solidFill>
                <a:latin typeface="Calibri" pitchFamily="34" charset="0"/>
                <a:ea typeface="Calibri" pitchFamily="34" charset="-122"/>
                <a:cs typeface="Calibri" pitchFamily="34" charset="-120"/>
              </a:rPr>
              <a:t>Severity is rule-based; orange and red need two distinct approvers.</a:t>
            </a:r>
            <a:endParaRPr lang="en-US" sz="1500" dirty="0"/>
          </a:p>
        </p:txBody>
      </p:sp>
      <p:sp>
        <p:nvSpPr>
          <p:cNvPr id="6" name="Text 4"/>
          <p:cNvSpPr txBox="1"/>
          <p:nvPr/>
        </p:nvSpPr>
        <p:spPr>
          <a:xfrm>
            <a:off x="6172200" y="1371600"/>
            <a:ext cx="54864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Surge calibration (in-sample fit)</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1783080"/>
                <a:gridCol w="1097280"/>
                <a:gridCol w="1554480"/>
                <a:gridCol w="1033272"/>
              </a:tblGrid>
              <a:tr h="54864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Coast sector</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Modelled (m)</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Nine-scenario range (m)</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Observed (m)</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384048">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Visakhapatnam port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0.41 to 1.46</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1.2 to 1.4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384048">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Puri beach</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1.53</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0.13 to 1.71</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about 1.5</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8" name="Text 5"/>
          <p:cNvSpPr txBox="1"/>
          <p:nvPr/>
        </p:nvSpPr>
        <p:spPr>
          <a:xfrm>
            <a:off x="6172200" y="3291840"/>
            <a:ext cx="5468112" cy="118872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Observations: Hudhud 2014 (Visakhapatnam tide gauge, IMD RSMC report); Fani 2019 (media-reported; INCOIS guidance had been up to about 4 m). The multipliers k = 2.0 and k = 0.65 were fitted to these events, so agreement is by construction and is not a validation. Vietnam is uncalibrated.</a:t>
            </a:r>
            <a:endParaRPr lang="en-US" sz="1200" dirty="0"/>
          </a:p>
        </p:txBody>
      </p:sp>
      <p:sp>
        <p:nvSpPr>
          <p:cNvPr id="9" name="Text 6"/>
          <p:cNvSpPr txBox="1"/>
          <p:nvPr/>
        </p:nvSpPr>
        <p:spPr>
          <a:xfrm>
            <a:off x="548640" y="4892040"/>
            <a:ext cx="11091672" cy="1005840"/>
          </a:xfrm>
          <a:prstGeom prst="rect">
            <a:avLst/>
          </a:prstGeom>
          <a:noFill/>
          <a:ln/>
        </p:spPr>
        <p:txBody>
          <a:bodyPr wrap="square" lIns="0" tIns="0" rIns="0" bIns="0" rtlCol="0" anchor="t"/>
          <a:lstStyle/>
          <a:p>
            <a:pPr indent="0" marL="0">
              <a:buNone/>
            </a:pPr>
            <a:r>
              <a:rPr lang="en-US" sz="1600" b="1" dirty="0">
                <a:solidFill>
                  <a:srgbClr val="9E3F1C"/>
                </a:solidFill>
                <a:latin typeface="Calibri" pitchFamily="34" charset="0"/>
                <a:ea typeface="Calibri" pitchFamily="34" charset="-122"/>
                <a:cs typeface="Calibri" pitchFamily="34" charset="-120"/>
              </a:rPr>
              <a:t>Not claimed. </a:t>
            </a:r>
            <a:pPr indent="0" marL="0">
              <a:buNone/>
            </a:pPr>
            <a:r>
              <a:rPr lang="en-US" sz="1600" dirty="0">
                <a:solidFill>
                  <a:srgbClr val="27303C"/>
                </a:solidFill>
                <a:latin typeface="Calibri" pitchFamily="34" charset="0"/>
                <a:ea typeface="Calibri" pitchFamily="34" charset="-122"/>
                <a:cs typeface="Calibri" pitchFamily="34" charset="-120"/>
              </a:rPr>
              <a:t>An official forecast; validated surge accuracy; flooding in built-up areas (the surface-model DEM is biased high, so it is under-predicted); rain for stalled or monsoon-interacting storms (R-CLIPER has no orography); distribution-pole outages or designated-shelter capacity (sparse in OpenStreetMap).</a:t>
            </a:r>
            <a:endParaRPr lang="en-US" sz="16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8. Prototype</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Cyclone Hudhud replayed on today's Visakhapatnam infrastructure</a:t>
            </a:r>
            <a:endParaRPr lang="en-US" sz="2800" dirty="0"/>
          </a:p>
        </p:txBody>
      </p:sp>
      <p:pic>
        <p:nvPicPr>
          <p:cNvPr id="4" name="Image 0" descr="E:\cyclone-sheild\cycloneshield-ai\docs\images\overview.jpg">    </p:cNvPr>
          <p:cNvPicPr>
            <a:picLocks noChangeAspect="1"/>
          </p:cNvPicPr>
          <p:nvPr/>
        </p:nvPicPr>
        <p:blipFill>
          <a:blip r:embed="rId1"/>
          <a:stretch>
            <a:fillRect/>
          </a:stretch>
        </p:blipFill>
        <p:spPr>
          <a:xfrm>
            <a:off x="548640" y="1371600"/>
            <a:ext cx="5440680" cy="3278010"/>
          </a:xfrm>
          <a:prstGeom prst="rect">
            <a:avLst/>
          </a:prstGeom>
        </p:spPr>
      </p:pic>
      <p:pic>
        <p:nvPicPr>
          <p:cNvPr id="5" name="Image 1" descr="E:\cyclone-sheild\cycloneshield-ai\docs\images\assets.jpg">    </p:cNvPr>
          <p:cNvPicPr>
            <a:picLocks noChangeAspect="1"/>
          </p:cNvPicPr>
          <p:nvPr/>
        </p:nvPicPr>
        <p:blipFill>
          <a:blip r:embed="rId2"/>
          <a:stretch>
            <a:fillRect/>
          </a:stretch>
        </p:blipFill>
        <p:spPr>
          <a:xfrm>
            <a:off x="6199632" y="1371600"/>
            <a:ext cx="5440680" cy="3278010"/>
          </a:xfrm>
          <a:prstGeom prst="rect">
            <a:avLst/>
          </a:prstGeom>
        </p:spPr>
      </p:pic>
      <p:sp>
        <p:nvSpPr>
          <p:cNvPr id="6" name="Text 2"/>
          <p:cNvSpPr txBox="1"/>
          <p:nvPr/>
        </p:nvSpPr>
        <p:spPr>
          <a:xfrm>
            <a:off x="548640" y="4741050"/>
            <a:ext cx="5440680" cy="6858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Figure 2a. Overview: warning tier set by rule (orange at T minus 24 h), 206 km/h peak wind (JTWC 1-minute basis), 271 hospitals and 88 substations assessed, surge 0.6 to 2.0 m across nine scenarios, 14.5 km² flooded.</a:t>
            </a:r>
            <a:endParaRPr lang="en-US" sz="1200" dirty="0"/>
          </a:p>
        </p:txBody>
      </p:sp>
      <p:sp>
        <p:nvSpPr>
          <p:cNvPr id="7" name="Text 3"/>
          <p:cNvSpPr txBox="1"/>
          <p:nvPr/>
        </p:nvSpPr>
        <p:spPr>
          <a:xfrm>
            <a:off x="6199632" y="4741050"/>
            <a:ext cx="5440680" cy="6858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Figure 2b. "What gets hit, and when": status, hazards, time of first impact and the share of scenarios (k of 9) in which each asset is hit.</a:t>
            </a:r>
            <a:endParaRPr lang="en-US" sz="1200" dirty="0"/>
          </a:p>
        </p:txBody>
      </p:sp>
      <p:sp>
        <p:nvSpPr>
          <p:cNvPr id="8" name="Text 4"/>
          <p:cNvSpPr txBox="1"/>
          <p:nvPr/>
        </p:nvSpPr>
        <p:spPr>
          <a:xfrm>
            <a:off x="548640" y="5440680"/>
            <a:ext cx="11091672" cy="685800"/>
          </a:xfrm>
          <a:prstGeom prst="rect">
            <a:avLst/>
          </a:prstGeom>
          <a:noFill/>
          <a:ln/>
        </p:spPr>
        <p:txBody>
          <a:bodyPr wrap="square" lIns="0" tIns="0" rIns="0" bIns="0" rtlCol="0" anchor="t"/>
          <a:lstStyle/>
          <a:p>
            <a:pPr indent="0" marL="0">
              <a:buNone/>
            </a:pPr>
            <a:r>
              <a:rPr lang="en-US" sz="1600" b="1" dirty="0">
                <a:solidFill>
                  <a:srgbClr val="16233A"/>
                </a:solidFill>
                <a:latin typeface="Calibri" pitchFamily="34" charset="0"/>
                <a:ea typeface="Calibri" pitchFamily="34" charset="-122"/>
                <a:cs typeface="Calibri" pitchFamily="34" charset="-120"/>
              </a:rPr>
              <a:t>Also demonstrated: </a:t>
            </a:r>
            <a:pPr indent="0" marL="0">
              <a:buNone/>
            </a:pPr>
            <a:r>
              <a:rPr lang="en-US" sz="1600" dirty="0">
                <a:solidFill>
                  <a:srgbClr val="27303C"/>
                </a:solidFill>
                <a:latin typeface="Calibri" pitchFamily="34" charset="0"/>
                <a:ea typeface="Calibri" pitchFamily="34" charset="-122"/>
                <a:cs typeface="Calibri" pitchFamily="34" charset="-120"/>
              </a:rPr>
              <a:t>24 of 30 localities have a flood-safe route to a shelter with a latest safe departure time; a near-miss storm (Montha 2025) stays at Monitor, so no false alarm is raised; the same pipeline runs for Odisha and Vietnam.</a:t>
            </a:r>
            <a:endParaRPr lang="en-US" sz="16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9. Coverage of the challenge</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Each element of the Track 05 brief maps to a working component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54680"/>
                <a:gridCol w="4800600"/>
                <a:gridCol w="3136392"/>
              </a:tblGrid>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Implementation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45720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Simulate cyclone storm surges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Storm-tide budget per coastal sector; sea-connected flooding; nine scenarios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 (screening-level)</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5720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Predict rainfall damage pathways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R-CLIPER prior; waterlogging basins and runoff corridors; onset time per asset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Map exposure: power grid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OpenStreetMap substations and lines with wind and flood status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Map exposure: arterial roads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Road graph; cut and waterlogged segments; routes with depart-by times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Map exposure: medical shelters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Hospitals and candidate shelters; usable or not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 (shelter registers needed)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5720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Automated advisory dispatch</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Approval workflow; CAP 1.2, Telegram with acknowledgement, webhook</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 (SMS, Cell Broadcast simulated)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5720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Earth Engine and real-time meteorology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GFS forecast rain, GHSL, Open Buildings, MERIT Hydro tiles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 live cyclone feed on roadmap</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Gemini 3.7 Flash multimodal reasoning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Bulletin reader, advisory writer, officer copilot</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41148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Parametric insurance liquidity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Stage-keyed trigger tiers and release memo; no funds move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Implemented (illustrative)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10. Scalability and deployability</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A new region is a configuration file; a pilot can start in shadow mode within weeks</a:t>
            </a:r>
            <a:endParaRPr lang="en-US" sz="2800" dirty="0"/>
          </a:p>
        </p:txBody>
      </p:sp>
      <p:sp>
        <p:nvSpPr>
          <p:cNvPr id="4" name="Text 2"/>
          <p:cNvSpPr txBox="1"/>
          <p:nvPr/>
        </p:nvSpPr>
        <p:spPr>
          <a:xfrm>
            <a:off x="548640" y="1691640"/>
            <a:ext cx="59436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Regions loaded in the prototype</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852160" cy="914400"/>
        </p:xfrm>
        <a:graphic>
          <a:graphicData uri="http://schemas.openxmlformats.org/drawingml/2006/table">
            <a:tbl>
              <a:tblPr/>
              <a:tblGrid>
                <a:gridCol w="1920240"/>
                <a:gridCol w="1188720"/>
                <a:gridCol w="2743200"/>
              </a:tblGrid>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Region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Replay</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Infrastructure (OpenStreetMap)</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54864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Andhra Pradesh, Visakhapatnam</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Hudhud 2014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271 hospitals, 88 substations, 3,110 road segments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Odisha, Puri</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Fani 2019</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22 hospitals, 4 substations; roads pending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Vietnam, Hai Phong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Yagi 2024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37 substations, 2,943 road segments; hospitals pending</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6" name="Text 3"/>
          <p:cNvSpPr txBox="1"/>
          <p:nvPr/>
        </p:nvSpPr>
        <p:spPr>
          <a:xfrm>
            <a:off x="548640" y="4343400"/>
            <a:ext cx="585216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The core model uses only global inputs, so one code base serves the North Indian Ocean and the West Pacific; a new region is one JSON file and two data scripts.</a:t>
            </a:r>
            <a:endParaRPr lang="en-US" sz="1400" dirty="0"/>
          </a:p>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Rollout follows NCRMP Category I states first: Andhra Pradesh, Gujarat, Odisha, Tamil Nadu, West Bengal.</a:t>
            </a:r>
            <a:endParaRPr lang="en-US" sz="1400" dirty="0"/>
          </a:p>
        </p:txBody>
      </p:sp>
      <p:sp>
        <p:nvSpPr>
          <p:cNvPr id="7" name="Text 4"/>
          <p:cNvSpPr txBox="1"/>
          <p:nvPr/>
        </p:nvSpPr>
        <p:spPr>
          <a:xfrm>
            <a:off x="6720840" y="1691640"/>
            <a:ext cx="493776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Proposed pilot pathway</a:t>
            </a:r>
            <a:endParaRPr lang="en-US" sz="18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720840" y="2103120"/>
          <a:ext cx="4919472" cy="914400"/>
        </p:xfrm>
        <a:graphic>
          <a:graphicData uri="http://schemas.openxmlformats.org/drawingml/2006/table">
            <a:tbl>
              <a:tblPr/>
              <a:tblGrid>
                <a:gridCol w="1234440"/>
                <a:gridCol w="3685032"/>
              </a:tblGrid>
              <a:tr h="365760">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Phase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c>
                  <a:txBody>
                    <a:bodyPr/>
                    <a:lstStyle/>
                    <a:p>
                      <a:pPr indent="0" marL="0">
                        <a:buNone/>
                      </a:pPr>
                      <a:r>
                        <a:rPr lang="en-US" sz="1400" b="1" dirty="0">
                          <a:solidFill>
                            <a:srgbClr val="16233A"/>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15875" cap="flat" cmpd="sng" algn="ctr">
                      <a:solidFill>
                        <a:srgbClr val="16233A"/>
                      </a:solidFill>
                      <a:prstDash val="solid"/>
                      <a:round/>
                      <a:headEnd type="none" w="med" len="med"/>
                      <a:tailEnd type="none" w="med" len="med"/>
                    </a:lnB>
                  </a:tcPr>
                </a:tc>
              </a:tr>
              <a:tr h="68580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Week 1</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Shadow mode with one SDMA on Visakhapatnam and other high-proneness districts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Weeks 2 to 3</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Second state: new region file, language pack, one data run</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54864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Week 4</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CAP feed to a state EOC or the SACHET test channel, via NDMA</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r h="685800">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Later</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c>
                  <a:txBody>
                    <a:bodyPr/>
                    <a:lstStyle/>
                    <a:p>
                      <a:pPr indent="0" marL="0">
                        <a:buNone/>
                      </a:pPr>
                      <a:r>
                        <a:rPr lang="en-US" sz="1400" dirty="0">
                          <a:solidFill>
                            <a:srgbClr val="27303C"/>
                          </a:solidFill>
                          <a:latin typeface="Calibri" pitchFamily="34" charset="0"/>
                          <a:ea typeface="Calibri" pitchFamily="34" charset="-122"/>
                          <a:cs typeface="Calibri" pitchFamily="34" charset="-120"/>
                        </a:rPr>
                        <a:t>NCRMP Category II states; BRICS and APAC partners through the same adapters</a:t>
                      </a:r>
                      <a:endParaRPr lang="en-US" sz="1400" dirty="0">
                        <a:latin typeface="Calibri" charset="0"/>
                        <a:ea typeface="Calibri" charset="0"/>
                        <a:cs typeface="Calibri" charset="0"/>
                      </a:endParaRPr>
                    </a:p>
                  </a:txBody>
                  <a:tcPr marL="0" marR="101600" marT="50800" marB="50800" anchor="t">
                    <a:lnL w="0" cap="flat" cmpd="sng" algn="ctr">
                      <a:noFill/>
                    </a:lnL>
                    <a:lnR w="0" cap="flat" cmpd="sng" algn="ctr">
                      <a:noFill/>
                    </a:lnR>
                    <a:lnT w="0" cap="flat" cmpd="sng" algn="ctr">
                      <a:noFill/>
                    </a:lnT>
                    <a:lnB w="6350" cap="flat" cmpd="sng" algn="ctr">
                      <a:solidFill>
                        <a:srgbClr val="C5CDD6"/>
                      </a:solidFill>
                      <a:prstDash val="solid"/>
                      <a:round/>
                      <a:headEnd type="none" w="med" len="med"/>
                      <a:tailEnd type="none" w="med" len="med"/>
                    </a:lnB>
                  </a:tcPr>
                </a:tc>
              </a:tr>
            </a:tbl>
          </a:graphicData>
        </a:graphic>
      </p:graphicFrame>
      <p:sp>
        <p:nvSpPr>
          <p:cNvPr id="9" name="Text 5"/>
          <p:cNvSpPr txBox="1"/>
          <p:nvPr/>
        </p:nvSpPr>
        <p:spPr>
          <a:xfrm>
            <a:off x="548640" y="5669280"/>
            <a:ext cx="11091672" cy="640080"/>
          </a:xfrm>
          <a:prstGeom prst="rect">
            <a:avLst/>
          </a:prstGeom>
          <a:noFill/>
          <a:ln/>
        </p:spPr>
        <p:txBody>
          <a:bodyPr wrap="square" lIns="0" tIns="0" rIns="0" bIns="0" rtlCol="0" anchor="t"/>
          <a:lstStyle/>
          <a:p>
            <a:pPr indent="0" marL="0">
              <a:buNone/>
            </a:pPr>
            <a:r>
              <a:rPr lang="en-US" sz="1400" b="1" dirty="0">
                <a:solidFill>
                  <a:srgbClr val="9E3F1C"/>
                </a:solidFill>
                <a:latin typeface="Calibri" pitchFamily="34" charset="0"/>
                <a:ea typeface="Calibri" pitchFamily="34" charset="-122"/>
                <a:cs typeface="Calibri" pitchFamily="34" charset="-120"/>
              </a:rPr>
              <a:t>Constraints stated openly. </a:t>
            </a:r>
            <a:pPr indent="0" marL="0">
              <a:buNone/>
            </a:pPr>
            <a:r>
              <a:rPr lang="en-US" sz="1400" dirty="0">
                <a:solidFill>
                  <a:srgbClr val="27303C"/>
                </a:solidFill>
                <a:latin typeface="Calibri" pitchFamily="34" charset="0"/>
                <a:ea typeface="Calibri" pitchFamily="34" charset="-122"/>
                <a:cs typeface="Calibri" pitchFamily="34" charset="-120"/>
              </a:rPr>
              <a:t>Earth Engine is free for non-commercial use only, so a state pilot would need a paid plan. Gemini 3.7 Flash introductory pricing ends on 31 December 2026. State and audit data live in files; production would move them to Firestore and a retention-locked bucket.</a:t>
            </a:r>
            <a:endParaRPr lang="en-US" sz="14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rgbClr val="1E5F7A"/>
                </a:solidFill>
                <a:latin typeface="Calibri" pitchFamily="34" charset="0"/>
                <a:ea typeface="Calibri" pitchFamily="34" charset="-122"/>
                <a:cs typeface="Calibri" pitchFamily="34" charset="-120"/>
              </a:rPr>
              <a:t>11. Impact, future work and references</a:t>
            </a:r>
            <a:endParaRPr lang="en-US" sz="12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6233A"/>
                </a:solidFill>
                <a:latin typeface="Cambria" pitchFamily="34" charset="0"/>
                <a:ea typeface="Cambria" pitchFamily="34" charset="-122"/>
                <a:cs typeface="Cambria" pitchFamily="34" charset="-120"/>
              </a:rPr>
              <a:t>Asset-level lead time bridges the gap between warning and action</a:t>
            </a:r>
            <a:endParaRPr lang="en-US" sz="2800" dirty="0"/>
          </a:p>
        </p:txBody>
      </p:sp>
      <p:sp>
        <p:nvSpPr>
          <p:cNvPr id="4" name="Text 2"/>
          <p:cNvSpPr txBox="1"/>
          <p:nvPr/>
        </p:nvSpPr>
        <p:spPr>
          <a:xfrm>
            <a:off x="548640" y="1371600"/>
            <a:ext cx="54864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Expected impact</a:t>
            </a:r>
            <a:endParaRPr lang="en-US" sz="1800" dirty="0"/>
          </a:p>
        </p:txBody>
      </p:sp>
      <p:sp>
        <p:nvSpPr>
          <p:cNvPr id="5" name="Text 3"/>
          <p:cNvSpPr txBox="1"/>
          <p:nvPr/>
        </p:nvSpPr>
        <p:spPr>
          <a:xfrm>
            <a:off x="548640" y="1737360"/>
            <a:ext cx="5532120"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Converts a district-level warning into hospital-, substation- and road-level times of first impact.</a:t>
            </a:r>
            <a:endParaRPr lang="en-US" sz="1400" dirty="0"/>
          </a:p>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Odisha's fall from about 10,000 deaths (1999) to double digits (2013, 2019) shows the value of acting before landfall.</a:t>
            </a:r>
            <a:endParaRPr lang="en-US" sz="1400" dirty="0"/>
          </a:p>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Relevant to 13 coastal States and Union Territories and about 84 coastal districts (NCRMP).</a:t>
            </a:r>
            <a:endParaRPr lang="en-US" sz="1400" dirty="0"/>
          </a:p>
        </p:txBody>
      </p:sp>
      <p:sp>
        <p:nvSpPr>
          <p:cNvPr id="6" name="Text 4"/>
          <p:cNvSpPr txBox="1"/>
          <p:nvPr/>
        </p:nvSpPr>
        <p:spPr>
          <a:xfrm>
            <a:off x="548640" y="3703320"/>
            <a:ext cx="548640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Future work</a:t>
            </a:r>
            <a:endParaRPr lang="en-US" sz="1800" dirty="0"/>
          </a:p>
        </p:txBody>
      </p:sp>
      <p:sp>
        <p:nvSpPr>
          <p:cNvPr id="7" name="Text 5"/>
          <p:cNvSpPr txBox="1"/>
          <p:nvPr/>
        </p:nvSpPr>
        <p:spPr>
          <a:xfrm>
            <a:off x="548640" y="4069080"/>
            <a:ext cx="5532120"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Live forecast ingestion with IMD as the authority; NWP rainfall ensembles.</a:t>
            </a:r>
            <a:endParaRPr lang="en-US" sz="1400" dirty="0"/>
          </a:p>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Shelf parameters from bathymetry; out-of-sample validation against Sentinel-1 flood extents.</a:t>
            </a:r>
            <a:endParaRPr lang="en-US" sz="1400" dirty="0"/>
          </a:p>
          <a:p>
            <a:pPr marL="203200" indent="-203200">
              <a:spcAft>
                <a:spcPts val="600"/>
              </a:spcAft>
              <a:buSzPct val="100000"/>
              <a:buChar char="•"/>
            </a:pPr>
            <a:r>
              <a:rPr lang="en-US" sz="1400" dirty="0">
                <a:solidFill>
                  <a:srgbClr val="27303C"/>
                </a:solidFill>
                <a:latin typeface="Calibri" pitchFamily="34" charset="0"/>
                <a:ea typeface="Calibri" pitchFamily="34" charset="-122"/>
                <a:cs typeface="Calibri" pitchFamily="34" charset="-120"/>
              </a:rPr>
              <a:t>Designated-shelter registers; Firestore state and a KMS-signed audit chain; SDMA integration through NDMA.</a:t>
            </a:r>
            <a:endParaRPr lang="en-US" sz="1400" dirty="0"/>
          </a:p>
        </p:txBody>
      </p:sp>
      <p:sp>
        <p:nvSpPr>
          <p:cNvPr id="8" name="Text 6"/>
          <p:cNvSpPr txBox="1"/>
          <p:nvPr/>
        </p:nvSpPr>
        <p:spPr>
          <a:xfrm>
            <a:off x="6492240" y="1371600"/>
            <a:ext cx="5120640" cy="292608"/>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References</a:t>
            </a:r>
            <a:endParaRPr lang="en-US" sz="1800" dirty="0"/>
          </a:p>
        </p:txBody>
      </p:sp>
      <p:sp>
        <p:nvSpPr>
          <p:cNvPr id="9" name="Text 7"/>
          <p:cNvSpPr txBox="1"/>
          <p:nvPr/>
        </p:nvSpPr>
        <p:spPr>
          <a:xfrm>
            <a:off x="6492240" y="1737360"/>
            <a:ext cx="5148072" cy="4297680"/>
          </a:xfrm>
          <a:prstGeom prst="rect">
            <a:avLst/>
          </a:prstGeom>
          <a:noFill/>
          <a:ln/>
        </p:spPr>
        <p:txBody>
          <a:bodyPr wrap="square" lIns="0" tIns="0" rIns="0" bIns="0" rtlCol="0" anchor="t"/>
          <a:lstStyle/>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Barnes, R., Lehman, C., Mulla, D. (2014). Priority-flood: an optimal depression-filling and watershed-labeling algorithm. Computers &amp; Geosciences 62, 117-127.</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Eberenz, S., Lüthi, S., Bresch, D. N. (2021). Regional tropical cyclone impact functions for globally consistent risk assessments. Nat. Hazards Earth Syst. Sci. 21, 393-415.</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Emanuel, K. (2011). Global warming effects on U.S. hurricane damage. Weather, Climate, and Society 3, 261-268.</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Global Commission on Adaptation (2019). Adapt Now: A Global Call for Leadership on Climate Resilience.</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Holland, G. J. (1980). An analytic model of the wind and pressure profiles in hurricanes. Mon. Wea. Rev. 108, 1212-1218.</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OASIS (2010). Common Alerting Protocol Version 1.2.</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Pielke, R. A., Pielke, R. A. (1997). Hurricanes: Their Nature and Impacts on Society. Wiley.</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Pregnolato, M. et al. (2017). The impact of flooding on road transport: a depth-disruption function. Transp. Res. D 55, 67-81.</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Tuleya, R. E., DeMaria, M., Kuligowski, R. J. (2007). Evaluation of GFDL and simple statistical model rainfall forecasts for U.S. landfalling tropical storms. Weather and Forecasting 22, 56-70.</a:t>
            </a:r>
            <a:endParaRPr lang="en-US" sz="1100" dirty="0"/>
          </a:p>
          <a:p>
            <a:pPr indent="0" marL="0">
              <a:spcAft>
                <a:spcPts val="400"/>
              </a:spcAft>
              <a:buNone/>
            </a:pPr>
            <a:r>
              <a:rPr lang="en-US" sz="1100" dirty="0">
                <a:solidFill>
                  <a:srgbClr val="27303C"/>
                </a:solidFill>
                <a:latin typeface="Calibri" pitchFamily="34" charset="0"/>
                <a:ea typeface="Calibri" pitchFamily="34" charset="-122"/>
                <a:cs typeface="Calibri" pitchFamily="34" charset="-120"/>
              </a:rPr>
              <a:t>World Bank (2023). Odisha's turnaround in disaster management has lessons for the world.</a:t>
            </a:r>
            <a:endParaRPr lang="en-US" sz="1100" dirty="0"/>
          </a:p>
        </p:txBody>
      </p:sp>
      <p:sp>
        <p:nvSpPr>
          <p:cNvPr id="25" name="Slide Number Placeholder 0"/>
          <p:cNvSpPr>
            <a:spLocks noGrp="1"/>
          </p:cNvSpPr>
          <p:nvPr>
            <p:ph type="sldNum" sz="quarter" idx="4294967295"/>
          </p:nvPr>
        </p:nvSpPr>
        <p:spPr>
          <a:xfrm>
            <a:off x="10607040" y="6428232"/>
            <a:ext cx="103327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CycloneShield AI - asset-level cyclone impact forecasting and advisory dispatch</dc:title>
  <dc:subject>Build with AI: Code for Communities, Second Edition - Track 05</dc:subject>
  <dc:creator>PptxGenJS</dc:creator>
  <cp:lastModifiedBy>PptxGenJS</cp:lastModifiedBy>
  <cp:revision>1</cp:revision>
  <dcterms:created xsi:type="dcterms:W3CDTF">2026-09-30T16:19:48Z</dcterms:created>
  <dcterms:modified xsi:type="dcterms:W3CDTF">2026-09-30T16:19:48Z</dcterms:modified>
</cp:coreProperties>
</file>